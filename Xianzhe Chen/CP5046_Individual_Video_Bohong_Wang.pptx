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kopo.com/g/game.php?gno=14378&amp;qid=8652&amp;lid=5373&amp;sid=2965" TargetMode="External"/><Relationship Id="rId3" Type="http://schemas.openxmlformats.org/officeDocument/2006/relationships/hyperlink" Target="https://www.figma.com/board/wcrZx8euXC17OJRNFkbkiT/2026-TR2-ICT1-Group-1?node-id=1-4&amp;p=f&amp;t=XWw5kRtiGiBaMrmO-0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kopo.com/g/game.php?gno=14378&amp;qid=8665&amp;lid=5373&amp;sid=2965" TargetMode="External"/><Relationship Id="rId3" Type="http://schemas.openxmlformats.org/officeDocument/2006/relationships/hyperlink" Target="https://www.figma.com/board/wcrZx8euXC17OJRNFkbkiT/2026-TR2-ICT1-Group-1?node-id=1-4&amp;p=f&amp;t=XWw5kRtiGiBaMrmO-0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kopo.com/g/game.php?gno=14378&amp;qid=8666&amp;lid=5373&amp;sid=2965" TargetMode="External"/><Relationship Id="rId3" Type="http://schemas.openxmlformats.org/officeDocument/2006/relationships/hyperlink" Target="https://www.figma.com/board/wcrZx8euXC17OJRNFkbkiT/2026-TR2-ICT1-Group-1?node-id=1-4&amp;p=f&amp;t=XWw5kRtiGiBaMrmO-0" TargetMode="Externa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207008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CP5046 Individual Video Defence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51560" y="182880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6B4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Ordering Game Design for Kindergarten Students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429000" y="2487168"/>
            <a:ext cx="52578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9CCE8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Contribution Presentation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68880" y="3063240"/>
            <a:ext cx="726948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971800" y="3401568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00" y="3401568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71800" y="3840480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 ID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384048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14858173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71800" y="4279392"/>
            <a:ext cx="1645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Lecturer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00600" y="4279392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/>
              <a:t>Insu </a:t>
            </a:r>
            <a:r>
              <a:rPr lang="en-US" sz="1350" dirty="0"/>
              <a:t>Song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71800" y="498348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James Cook University Singapore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Goal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0120" y="1517904"/>
            <a:ext cx="10195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635" tIns="635" rIns="635" bIns="635" rtlCol="0" anchor="ctr"/>
          <a:lstStyle/>
          <a:p>
            <a:r>
              <a:rPr sz="1800">
                <a:latin typeface="Arial" panose="020B0604020202020204"/>
              </a:rPr>
              <a:t>Educational ordering games for kindergarten students</a:t>
            </a:r>
            <a:endParaRPr sz="18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2578608"/>
            <a:ext cx="3291840" cy="2697480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Learning Focus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Counting 1–5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Size comparison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Logical ordering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Feedback learning</a:t>
            </a:r>
            <a:endParaRPr sz="1800">
              <a:latin typeface="Arial" panose="020B060402020202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34840" y="2578608"/>
            <a:ext cx="3291840" cy="2697480"/>
          </a:xfrm>
          <a:prstGeom prst="rect">
            <a:avLst/>
          </a:prstGeom>
          <a:solidFill>
            <a:srgbClr val="EEF7E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User Needs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Simple instructions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Clear images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Large drop areas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Immediate feedback</a:t>
            </a:r>
            <a:endParaRPr sz="1800">
              <a:latin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09560" y="2578608"/>
            <a:ext cx="3291840" cy="2697480"/>
          </a:xfrm>
          <a:prstGeom prst="rect">
            <a:avLst/>
          </a:prstGeom>
          <a:solidFill>
            <a:srgbClr val="FFF2E5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Design Direction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Shared mechanic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3 themes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Consistent layout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Less confusion</a:t>
            </a:r>
            <a:endParaRPr sz="18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 Contribution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10744200" cy="420624"/>
          </a:xfrm>
          <a:prstGeom prst="rect">
            <a:avLst/>
          </a:prstGeom>
          <a:solidFill>
            <a:srgbClr val="EAF3FF"/>
          </a:solidFill>
          <a:ln w="12700">
            <a:solidFill>
              <a:srgbClr val="C7D6EA"/>
            </a:solidFill>
          </a:ln>
        </p:spPr>
        <p:txBody>
          <a:bodyPr wrap="square" lIns="1270" tIns="1270" rIns="1270" bIns="1270" rtlCol="0" anchor="ctr"/>
          <a:lstStyle/>
          <a:p>
            <a:r>
              <a:rPr sz="1800">
                <a:latin typeface="Arial" panose="020B0604020202020204"/>
              </a:rPr>
              <a:t>Role: Game Designer / Scrum Coordinator</a:t>
            </a:r>
            <a:endParaRPr sz="18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Design Artefacts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3 ordering concepts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3 Figma prototypes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3 KOPO games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Screenshots / notes</a:t>
            </a:r>
            <a:endParaRPr sz="1800">
              <a:latin typeface="Arial" panose="020B060402020202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70832" y="187452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Requirements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User stories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Acceptance criteria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Story size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Sprint backlog</a:t>
            </a:r>
            <a:endParaRPr sz="1800">
              <a:latin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01000" y="1874520"/>
            <a:ext cx="3429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800">
                <a:latin typeface="Arial" panose="020B0604020202020204"/>
              </a:rPr>
              <a:t>Iteration</a:t>
            </a:r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Feedback review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Clearer wording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Image visibility</a:t>
            </a:r>
            <a:endParaRPr sz="1800">
              <a:latin typeface="Arial" panose="020B0604020202020204"/>
            </a:endParaRPr>
          </a:p>
          <a:p>
            <a:endParaRPr sz="1800">
              <a:latin typeface="Arial" panose="020B0604020202020204"/>
            </a:endParaRPr>
          </a:p>
          <a:p>
            <a:r>
              <a:rPr sz="1800">
                <a:latin typeface="Arial" panose="020B0604020202020204"/>
              </a:rPr>
              <a:t>• Layout consistency</a:t>
            </a:r>
            <a:endParaRPr sz="1800">
              <a:latin typeface="Arial" panose="020B0604020202020204"/>
            </a:endParaRPr>
          </a:p>
        </p:txBody>
      </p:sp>
      <p:pic>
        <p:nvPicPr>
          <p:cNvPr id="13" name="Image 1" descr="/mnt/data/cp5046_assets/figjam_overview.png"/>
          <p:cNvPicPr>
            <a:picLocks noChangeAspect="1"/>
          </p:cNvPicPr>
          <p:nvPr/>
        </p:nvPicPr>
        <p:blipFill>
          <a:blip r:embed="rId2"/>
          <a:srcRect l="10000" t="32000" r="-39531" b="43000"/>
          <a:stretch>
            <a:fillRect/>
          </a:stretch>
        </p:blipFill>
        <p:spPr>
          <a:xfrm>
            <a:off x="4389120" y="5440680"/>
            <a:ext cx="3429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Stories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1005840" y="1298448"/>
            <a:ext cx="1143000" cy="310896"/>
          </a:xfrm>
          <a:prstGeom prst="rect">
            <a:avLst/>
          </a:prstGeom>
          <a:solidFill>
            <a:srgbClr val="3F6B4E"/>
          </a:solidFill>
          <a:ln>
            <a:solidFill>
              <a:srgbClr val="3F6B4E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Theme 1</a:t>
            </a:r>
            <a:endParaRPr lang="en-US" sz="11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4617720" y="1298448"/>
            <a:ext cx="1143000" cy="310896"/>
          </a:xfrm>
          <a:prstGeom prst="rect">
            <a:avLst/>
          </a:prstGeom>
          <a:solidFill>
            <a:srgbClr val="D97B26"/>
          </a:solidFill>
          <a:ln>
            <a:solidFill>
              <a:srgbClr val="D97B2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Theme 2</a:t>
            </a:r>
            <a:endParaRPr lang="en-US" sz="110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229600" y="1298448"/>
            <a:ext cx="1143000" cy="310896"/>
          </a:xfrm>
          <a:prstGeom prst="rect">
            <a:avLst/>
          </a:prstGeom>
          <a:solidFill>
            <a:srgbClr val="2F5597"/>
          </a:solidFill>
          <a:ln>
            <a:solidFill>
              <a:srgbClr val="2F5597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Theme 3</a:t>
            </a:r>
            <a:endParaRPr lang="en-US" sz="11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85800" y="1691640"/>
            <a:ext cx="3383280" cy="4343400"/>
          </a:xfrm>
          <a:prstGeom prst="rect">
            <a:avLst/>
          </a:prstGeom>
          <a:solidFill>
            <a:srgbClr val="EEF7EF"/>
          </a:solidFill>
          <a:ln w="12700">
            <a:solidFill>
              <a:srgbClr val="B7C3D0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r>
              <a:rPr sz="1800" b="1">
                <a:latin typeface="Arial" panose="020B0604020202020204"/>
              </a:rPr>
              <a:t>Fruit — Order 1 to 5</a:t>
            </a:r>
            <a:endParaRPr sz="1800" b="1">
              <a:latin typeface="Arial" panose="020B0604020202020204"/>
            </a:endParaRPr>
          </a:p>
          <a:p>
            <a:endParaRPr sz="1800"/>
          </a:p>
          <a:p>
            <a:r>
              <a:rPr sz="1500">
                <a:latin typeface="Arial" panose="020B0604020202020204"/>
              </a:rPr>
              <a:t>User Need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Counting + ordering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Acceptance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5 fruit groups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Drag &amp; drop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Feedback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Story Size: S</a:t>
            </a:r>
            <a:endParaRPr sz="1500">
              <a:latin typeface="Arial" panose="020B0604020202020204"/>
            </a:endParaRPr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389120" y="1691640"/>
            <a:ext cx="3383280" cy="4343400"/>
          </a:xfrm>
          <a:prstGeom prst="rect">
            <a:avLst/>
          </a:prstGeom>
          <a:solidFill>
            <a:srgbClr val="FFF2E5"/>
          </a:solidFill>
          <a:ln w="12700">
            <a:solidFill>
              <a:srgbClr val="B7C3D0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r>
              <a:rPr sz="1800" b="1">
                <a:latin typeface="Arial" panose="020B0604020202020204"/>
              </a:rPr>
              <a:t>Animals — Smallest to Biggest</a:t>
            </a:r>
            <a:endParaRPr sz="1800" b="1">
              <a:latin typeface="Arial" panose="020B0604020202020204"/>
            </a:endParaRPr>
          </a:p>
          <a:p>
            <a:endParaRPr sz="1800"/>
          </a:p>
          <a:p>
            <a:r>
              <a:rPr sz="1500">
                <a:latin typeface="Arial" panose="020B0604020202020204"/>
              </a:rPr>
              <a:t>User Need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Size comparison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Acceptance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Mixed animal cards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Empty drop spaces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Correct size order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Story Size: M</a:t>
            </a:r>
            <a:endParaRPr sz="1500">
              <a:latin typeface="Arial" panose="020B0604020202020204"/>
            </a:endParaRPr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8092440" y="1691640"/>
            <a:ext cx="3383280" cy="4343400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r>
              <a:rPr sz="1800" b="1">
                <a:latin typeface="Arial" panose="020B0604020202020204"/>
              </a:rPr>
              <a:t>Vehicles — Smallest to Biggest</a:t>
            </a:r>
            <a:endParaRPr sz="1800" b="1">
              <a:latin typeface="Arial" panose="020B0604020202020204"/>
            </a:endParaRPr>
          </a:p>
          <a:p>
            <a:endParaRPr sz="1800"/>
          </a:p>
          <a:p>
            <a:r>
              <a:rPr sz="1500">
                <a:latin typeface="Arial" panose="020B0604020202020204"/>
              </a:rPr>
              <a:t>User Need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Logical ordering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Acceptance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Mixed vehicle cards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Empty drop spaces</a:t>
            </a:r>
            <a:endParaRPr sz="1500">
              <a:latin typeface="Arial" panose="020B0604020202020204"/>
            </a:endParaRPr>
          </a:p>
          <a:p>
            <a:endParaRPr sz="1500">
              <a:latin typeface="Arial" panose="020B0604020202020204"/>
            </a:endParaRPr>
          </a:p>
          <a:p>
            <a:r>
              <a:rPr sz="1500">
                <a:latin typeface="Arial" panose="020B0604020202020204"/>
              </a:rPr>
              <a:t>• Correct size order</a:t>
            </a:r>
            <a:endParaRPr sz="1500">
              <a:latin typeface="Arial" panose="020B0604020202020204"/>
            </a:endParaRPr>
          </a:p>
          <a:p>
            <a:endParaRPr sz="1500"/>
          </a:p>
          <a:p>
            <a:r>
              <a:rPr sz="1500">
                <a:latin typeface="Arial" panose="020B0604020202020204"/>
              </a:rPr>
              <a:t>Story Size: M</a:t>
            </a:r>
            <a:endParaRPr sz="15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Pilot Backlog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22960" y="1234440"/>
            <a:ext cx="10515600" cy="420624"/>
          </a:xfrm>
          <a:prstGeom prst="rect">
            <a:avLst/>
          </a:prstGeom>
          <a:solidFill>
            <a:srgbClr val="EAF3FF"/>
          </a:solidFill>
          <a:ln w="12700">
            <a:solidFill>
              <a:srgbClr val="C7D6EA"/>
            </a:solidFill>
          </a:ln>
        </p:spPr>
        <p:txBody>
          <a:bodyPr wrap="square" lIns="1270" tIns="1270" rIns="1270" bIns="1270" rtlCol="0" anchor="ctr"/>
          <a:lstStyle/>
          <a:p>
            <a:r>
              <a:rPr sz="1900">
                <a:latin typeface="Arial" panose="020B0604020202020204"/>
              </a:rPr>
              <a:t>Learner-focused tasks + clear learning purpose</a:t>
            </a:r>
            <a:endParaRPr sz="19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956816"/>
            <a:ext cx="685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64208" y="1956816"/>
            <a:ext cx="4572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Arrange objects</a:t>
            </a:r>
            <a:endParaRPr sz="1900">
              <a:latin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09360" y="1956816"/>
            <a:ext cx="4983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Counting / size order</a:t>
            </a:r>
            <a:endParaRPr sz="1900">
              <a:latin typeface="Arial" panose="020B060402020202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2798064"/>
            <a:ext cx="68580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64208" y="2798064"/>
            <a:ext cx="457200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Drag &amp; drop</a:t>
            </a:r>
            <a:endParaRPr sz="1900">
              <a:latin typeface="Arial" panose="020B060402020202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09360" y="2798064"/>
            <a:ext cx="498348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Independent play</a:t>
            </a:r>
            <a:endParaRPr sz="1900">
              <a:latin typeface="Arial" panose="020B060402020202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400" y="3639312"/>
            <a:ext cx="685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64208" y="3639312"/>
            <a:ext cx="4572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Compare quantity / size</a:t>
            </a:r>
            <a:endParaRPr sz="1900">
              <a:latin typeface="Arial" panose="020B060402020202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09360" y="3639312"/>
            <a:ext cx="4983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Recognise differences</a:t>
            </a:r>
            <a:endParaRPr sz="1900">
              <a:latin typeface="Arial" panose="020B060402020202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" y="4480560"/>
            <a:ext cx="68580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664208" y="4480560"/>
            <a:ext cx="457200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Feedback + retry</a:t>
            </a:r>
            <a:endParaRPr sz="1900">
              <a:latin typeface="Arial" panose="020B060402020202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09360" y="4480560"/>
            <a:ext cx="4983480" cy="713232"/>
          </a:xfrm>
          <a:prstGeom prst="rect">
            <a:avLst/>
          </a:prstGeom>
          <a:solidFill>
            <a:srgbClr val="F5F6F8"/>
          </a:solidFill>
          <a:ln w="12700">
            <a:solidFill>
              <a:srgbClr val="B7C3D0"/>
            </a:solidFill>
          </a:ln>
        </p:spPr>
        <p:txBody>
          <a:bodyPr wrap="square" lIns="1524" tIns="1524" rIns="1524" bIns="1524" rtlCol="0" anchor="ctr"/>
          <a:lstStyle/>
          <a:p>
            <a:r>
              <a:rPr sz="1900">
                <a:latin typeface="Arial" panose="020B0604020202020204"/>
              </a:rPr>
              <a:t>Learn from mistakes</a:t>
            </a:r>
            <a:endParaRPr sz="1900">
              <a:latin typeface="Arial" panose="020B060402020202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4400" y="5623560"/>
            <a:ext cx="10378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sz="1900">
                <a:latin typeface="Arial" panose="020B0604020202020204"/>
              </a:rPr>
              <a:t>Applied to: Fruit • Animals • Vehicles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Scrum Process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1417320"/>
            <a:ext cx="1078992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BBD0EC"/>
            </a:solidFill>
          </a:ln>
        </p:spPr>
        <p:txBody>
          <a:bodyPr wrap="square" lIns="508" tIns="508" rIns="508" bIns="508" rtlCol="0" anchor="ctr"/>
          <a:lstStyle/>
          <a:p>
            <a:r>
              <a:rPr sz="1900">
                <a:latin typeface="Arial" panose="020B0604020202020204"/>
              </a:rPr>
              <a:t>Sprint Planning → Prototype → Review → Feedback → Retrospective → Improvement</a:t>
            </a:r>
            <a:endParaRPr sz="19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33832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Sprint Review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Demo games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Check layout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Collect feedback</a:t>
            </a:r>
            <a:endParaRPr sz="1900">
              <a:latin typeface="Arial" panose="020B060402020202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89120" y="2468880"/>
            <a:ext cx="33832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Feedback Evidence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Question clarity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Image visibility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Template consistency</a:t>
            </a:r>
            <a:endParaRPr sz="1900">
              <a:latin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01000" y="2468880"/>
            <a:ext cx="33832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Retrospective Action</a:t>
            </a:r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Better wording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Image outlines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Shared checklist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Pilot 1 — Fruit Ordering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pic>
        <p:nvPicPr>
          <p:cNvPr id="9" name="Image 1" descr="/mnt/data/cp5046_assets/fruit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37544"/>
            <a:ext cx="4983480" cy="24741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98678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Evidence: KOPO prototype screenshot</a:t>
            </a:r>
            <a:endParaRPr lang="en-US" sz="1050" dirty="0"/>
          </a:p>
        </p:txBody>
      </p:sp>
      <p:sp>
        <p:nvSpPr>
          <p:cNvPr id="11" name="Text 7">
            <a:hlinkClick r:id="rId3"/>
          </p:cNvPr>
          <p:cNvSpPr/>
          <p:nvPr/>
        </p:nvSpPr>
        <p:spPr>
          <a:xfrm>
            <a:off x="6903720" y="436168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Figma prototype</a:t>
            </a:r>
            <a:endParaRPr lang="en-US" sz="1050" dirty="0"/>
          </a:p>
        </p:txBody>
      </p:sp>
      <p:sp>
        <p:nvSpPr>
          <p:cNvPr id="12" name="Text 8">
            <a:hlinkClick r:id="rId4"/>
          </p:cNvPr>
          <p:cNvSpPr/>
          <p:nvPr/>
        </p:nvSpPr>
        <p:spPr>
          <a:xfrm>
            <a:off x="8823960" y="436168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KOPO game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1325880"/>
            <a:ext cx="5257800" cy="1005840"/>
          </a:xfrm>
          <a:prstGeom prst="rect">
            <a:avLst/>
          </a:prstGeom>
          <a:solidFill>
            <a:srgbClr val="EEF7E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Sprint Goal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Counting 1–5</a:t>
            </a:r>
            <a:endParaRPr sz="1900">
              <a:latin typeface="Arial" panose="020B060402020202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5800" y="2542032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Design Decision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Familiar fruits + drag &amp; drop</a:t>
            </a:r>
            <a:endParaRPr sz="1900">
              <a:latin typeface="Arial" panose="020B060402020202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5800" y="3758184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Feedback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Unclear question + visual issues</a:t>
            </a:r>
            <a:endParaRPr sz="1900">
              <a:latin typeface="Arial" panose="020B060402020202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5800" y="4974336"/>
            <a:ext cx="10698480" cy="841248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 lnSpcReduction="10000"/>
          </a:bodyPr>
          <a:lstStyle/>
          <a:p>
            <a:r>
              <a:rPr sz="1900">
                <a:latin typeface="Arial" panose="020B0604020202020204"/>
              </a:rPr>
              <a:t>Improvement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Clearer wording + better visibility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Pilot 2 — Animal Ordering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pic>
        <p:nvPicPr>
          <p:cNvPr id="9" name="Image 1" descr="/mnt/data/cp5046_assets/animal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28750"/>
            <a:ext cx="4983480" cy="24917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98678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Evidence: KOPO prototype screenshot</a:t>
            </a:r>
            <a:endParaRPr lang="en-US" sz="1050" dirty="0"/>
          </a:p>
        </p:txBody>
      </p:sp>
      <p:sp>
        <p:nvSpPr>
          <p:cNvPr id="11" name="Text 7">
            <a:hlinkClick r:id="rId3"/>
          </p:cNvPr>
          <p:cNvSpPr/>
          <p:nvPr/>
        </p:nvSpPr>
        <p:spPr>
          <a:xfrm>
            <a:off x="6903720" y="436168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Figma prototype</a:t>
            </a:r>
            <a:endParaRPr lang="en-US" sz="1050" dirty="0"/>
          </a:p>
        </p:txBody>
      </p:sp>
      <p:sp>
        <p:nvSpPr>
          <p:cNvPr id="12" name="Text 8">
            <a:hlinkClick r:id="rId4"/>
          </p:cNvPr>
          <p:cNvSpPr/>
          <p:nvPr/>
        </p:nvSpPr>
        <p:spPr>
          <a:xfrm>
            <a:off x="8823960" y="436168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KOPO game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1325880"/>
            <a:ext cx="5257800" cy="1005840"/>
          </a:xfrm>
          <a:prstGeom prst="rect">
            <a:avLst/>
          </a:prstGeom>
          <a:solidFill>
            <a:srgbClr val="FFF2E5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Sprint Goal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Smallest → biggest</a:t>
            </a:r>
            <a:endParaRPr sz="1900">
              <a:latin typeface="Arial" panose="020B060402020202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5800" y="2542032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Design Decision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Clear size gaps + same controls</a:t>
            </a:r>
            <a:endParaRPr sz="1900">
              <a:latin typeface="Arial" panose="020B060402020202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5800" y="3758184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Feedback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Instruction + layout + images</a:t>
            </a:r>
            <a:endParaRPr sz="1900">
              <a:latin typeface="Arial" panose="020B060402020202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5800" y="4974336"/>
            <a:ext cx="10698480" cy="841248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 lnSpcReduction="10000"/>
          </a:bodyPr>
          <a:lstStyle/>
          <a:p>
            <a:r>
              <a:rPr sz="1900">
                <a:latin typeface="Arial" panose="020B0604020202020204"/>
              </a:rPr>
              <a:t>Improvement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Consistent KOPO template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Sprint Pilot 3 — Vehicle Ordering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pic>
        <p:nvPicPr>
          <p:cNvPr id="9" name="Image 1" descr="/mnt/data/cp5046_assets/vehicle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56436"/>
            <a:ext cx="4983480" cy="2436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986784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Evidence: KOPO prototype screenshot</a:t>
            </a:r>
            <a:endParaRPr lang="en-US" sz="1050" dirty="0"/>
          </a:p>
        </p:txBody>
      </p:sp>
      <p:sp>
        <p:nvSpPr>
          <p:cNvPr id="11" name="Text 7">
            <a:hlinkClick r:id="rId3"/>
          </p:cNvPr>
          <p:cNvSpPr/>
          <p:nvPr/>
        </p:nvSpPr>
        <p:spPr>
          <a:xfrm>
            <a:off x="6903720" y="4361688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Figma prototype</a:t>
            </a:r>
            <a:endParaRPr lang="en-US" sz="1050" dirty="0"/>
          </a:p>
        </p:txBody>
      </p:sp>
      <p:sp>
        <p:nvSpPr>
          <p:cNvPr id="12" name="Text 8">
            <a:hlinkClick r:id="rId4"/>
          </p:cNvPr>
          <p:cNvSpPr/>
          <p:nvPr/>
        </p:nvSpPr>
        <p:spPr>
          <a:xfrm>
            <a:off x="8823960" y="436168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KOPO game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1325880"/>
            <a:ext cx="5257800" cy="1005840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Sprint Goal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Smallest → biggest</a:t>
            </a:r>
            <a:endParaRPr sz="1900">
              <a:latin typeface="Arial" panose="020B060402020202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5800" y="2542032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Design Decision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Clear vehicles + simple interaction</a:t>
            </a:r>
            <a:endParaRPr sz="1900">
              <a:latin typeface="Arial" panose="020B060402020202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5800" y="3758184"/>
            <a:ext cx="5257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Feedback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Low contrast + sound optional</a:t>
            </a:r>
            <a:endParaRPr sz="1900">
              <a:latin typeface="Arial" panose="020B060402020202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85800" y="4974336"/>
            <a:ext cx="10698480" cy="841248"/>
          </a:xfrm>
          <a:prstGeom prst="rect">
            <a:avLst/>
          </a:prstGeom>
          <a:solidFill>
            <a:srgbClr val="EEF7E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 lnSpcReduction="10000"/>
          </a:bodyPr>
          <a:lstStyle/>
          <a:p>
            <a:r>
              <a:rPr sz="1900">
                <a:latin typeface="Arial" panose="020B0604020202020204"/>
              </a:rPr>
              <a:t>Improvement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Stronger outlines + minor layout changes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Constraints &amp; Trade-offs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141732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Main Constraints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Time limit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KOPO functions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Image quality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Limited child testing</a:t>
            </a:r>
            <a:endParaRPr sz="19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55080" y="141732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700">
                <a:latin typeface="Arial" panose="020B0604020202020204"/>
              </a:rPr>
              <a:t>Design Trade-offs</a:t>
            </a:r>
            <a:endParaRPr sz="1700">
              <a:latin typeface="Arial" panose="020B0604020202020204"/>
            </a:endParaRPr>
          </a:p>
          <a:p>
            <a:endParaRPr sz="1700">
              <a:latin typeface="Arial" panose="020B0604020202020204"/>
            </a:endParaRPr>
          </a:p>
          <a:p>
            <a:r>
              <a:rPr sz="1700">
                <a:latin typeface="Arial" panose="020B0604020202020204"/>
              </a:rPr>
              <a:t>• Variety vs. consistency</a:t>
            </a:r>
            <a:endParaRPr sz="1700">
              <a:latin typeface="Arial" panose="020B0604020202020204"/>
            </a:endParaRPr>
          </a:p>
          <a:p>
            <a:endParaRPr sz="1700">
              <a:latin typeface="Arial" panose="020B0604020202020204"/>
            </a:endParaRPr>
          </a:p>
          <a:p>
            <a:r>
              <a:rPr sz="1700">
                <a:latin typeface="Arial" panose="020B0604020202020204"/>
              </a:rPr>
              <a:t>• Multimedia vs. simplicity</a:t>
            </a:r>
            <a:endParaRPr sz="1700">
              <a:latin typeface="Arial" panose="020B0604020202020204"/>
            </a:endParaRPr>
          </a:p>
          <a:p>
            <a:endParaRPr sz="1700">
              <a:latin typeface="Arial" panose="020B0604020202020204"/>
            </a:endParaRPr>
          </a:p>
          <a:p>
            <a:r>
              <a:rPr sz="1700">
                <a:latin typeface="Arial" panose="020B0604020202020204"/>
              </a:rPr>
              <a:t>• Decoration vs. clarity</a:t>
            </a:r>
            <a:endParaRPr sz="1700">
              <a:latin typeface="Arial" panose="020B0604020202020204"/>
            </a:endParaRPr>
          </a:p>
          <a:p>
            <a:endParaRPr sz="1700">
              <a:latin typeface="Arial" panose="020B0604020202020204"/>
            </a:endParaRPr>
          </a:p>
          <a:p>
            <a:r>
              <a:rPr sz="1700">
                <a:latin typeface="Arial" panose="020B0604020202020204"/>
              </a:rPr>
              <a:t>• Unique theme vs. shared controls</a:t>
            </a:r>
            <a:endParaRPr sz="1700">
              <a:latin typeface="Arial" panose="020B060402020202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5166360"/>
            <a:ext cx="10378440" cy="502920"/>
          </a:xfrm>
          <a:prstGeom prst="rect">
            <a:avLst/>
          </a:prstGeom>
          <a:solidFill>
            <a:srgbClr val="EAF3FF"/>
          </a:solidFill>
          <a:ln w="12700">
            <a:solidFill>
              <a:srgbClr val="BBD0EC"/>
            </a:solidFill>
          </a:ln>
        </p:spPr>
        <p:txBody>
          <a:bodyPr wrap="square" lIns="635" tIns="635" rIns="635" bIns="635" rtlCol="0" anchor="ctr"/>
          <a:lstStyle/>
          <a:p>
            <a:r>
              <a:rPr sz="1900">
                <a:latin typeface="Arial" panose="020B0604020202020204"/>
              </a:rPr>
              <a:t>Priority: clarity • visibility • drag-and-drop • feedback • retry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72243d-d587-4733-a47b-0350ef54f3f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93776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26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Reflection &amp; 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881360" y="420624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F559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B7C3D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0160">
            <a:solidFill>
              <a:srgbClr val="DDE4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02920" y="6501384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Bohong Wang | Ordering Game Design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3520440" cy="3337560"/>
          </a:xfrm>
          <a:prstGeom prst="rect">
            <a:avLst/>
          </a:prstGeom>
          <a:solidFill>
            <a:srgbClr val="EEF7E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Achieved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3 ordering games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Figma + KOPO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Feedback iteration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Evidence kept</a:t>
            </a:r>
            <a:endParaRPr sz="1900">
              <a:latin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43400" y="1325880"/>
            <a:ext cx="3520440" cy="3337560"/>
          </a:xfrm>
          <a:prstGeom prst="rect">
            <a:avLst/>
          </a:prstGeom>
          <a:solidFill>
            <a:srgbClr val="FFF2E5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Learned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Direct instructions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Visible images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Consistent layout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Small details matter</a:t>
            </a:r>
            <a:endParaRPr sz="1900">
              <a:latin typeface="Arial" panose="020B060402020202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01000" y="1325880"/>
            <a:ext cx="3520440" cy="3337560"/>
          </a:xfrm>
          <a:prstGeom prst="rect">
            <a:avLst/>
          </a:prstGeom>
          <a:solidFill>
            <a:srgbClr val="EAF3FF"/>
          </a:solidFill>
          <a:ln w="12700">
            <a:solidFill>
              <a:srgbClr val="B7C3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r>
              <a:rPr sz="1900">
                <a:latin typeface="Arial" panose="020B0604020202020204"/>
              </a:rPr>
              <a:t>Next Improvement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Test KOPO earlier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Check criteria first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More user testing</a:t>
            </a:r>
            <a:endParaRPr sz="1900">
              <a:latin typeface="Arial" panose="020B0604020202020204"/>
            </a:endParaRPr>
          </a:p>
          <a:p>
            <a:endParaRPr sz="1900">
              <a:latin typeface="Arial" panose="020B0604020202020204"/>
            </a:endParaRPr>
          </a:p>
          <a:p>
            <a:r>
              <a:rPr sz="1900">
                <a:latin typeface="Arial" panose="020B0604020202020204"/>
              </a:rPr>
              <a:t>• Record actions</a:t>
            </a:r>
            <a:endParaRPr sz="1900">
              <a:latin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05840" y="5212080"/>
            <a:ext cx="10149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B7C3D0"/>
            </a:solidFill>
          </a:ln>
        </p:spPr>
        <p:txBody>
          <a:bodyPr wrap="square" lIns="762" tIns="762" rIns="762" bIns="762" rtlCol="0" anchor="ctr"/>
          <a:lstStyle/>
          <a:p>
            <a:r>
              <a:rPr sz="1900">
                <a:latin typeface="Arial" panose="020B0604020202020204"/>
              </a:rPr>
              <a:t>Final message: clear • testable • age-appropriate ordering games</a:t>
            </a:r>
            <a:endParaRPr sz="1900">
              <a:latin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ags/tag2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ags/tag3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ags/tag4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ags/tag5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ags/tag6.xml><?xml version="1.0" encoding="utf-8"?>
<p:tagLst xmlns:p="http://schemas.openxmlformats.org/presentationml/2006/main">
  <p:tag name="KSO_WM_DIAGRAM_VIRTUALLY_FRAME" val="{&quot;height&quot;:372.96,&quot;left&quot;:54,&quot;top&quot;:102.24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3500</Words>
  <Application>WPS 演示</Application>
  <PresentationFormat>On-screen Show (16:9)</PresentationFormat>
  <Paragraphs>365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Arial</vt:lpstr>
      <vt:lpstr>Arial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James Cook University Singapore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Ordering Game Design for Kindergarten Students</dc:title>
  <dc:creator>Bohong Wang</dc:creator>
  <dc:subject>CP5046 Individual Video Defence</dc:subject>
  <cp:lastModifiedBy>Nico</cp:lastModifiedBy>
  <cp:revision>2</cp:revision>
  <dcterms:created xsi:type="dcterms:W3CDTF">2026-08-08T17:23:00Z</dcterms:created>
  <dcterms:modified xsi:type="dcterms:W3CDTF">2026-08-08T19:43:45Z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0FDFF62A435C4FAEBDEEFD97784BE31E_12</vt:lpwstr>
  </property>
</Properties>
</file>