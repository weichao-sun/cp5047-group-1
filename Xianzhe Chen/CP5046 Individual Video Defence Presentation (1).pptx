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466725"/>
            <a:ext cx="3695700" cy="3333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217390"/>
            <a:ext cx="2652712" cy="771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087" y="2217390"/>
            <a:ext cx="2652712" cy="771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217390"/>
            <a:ext cx="2652712" cy="771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7312" y="2217390"/>
            <a:ext cx="2652712" cy="771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1975" y="933450"/>
            <a:ext cx="11621452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  <a:defRPr/>
            </a:pPr>
            <a:r>
              <a:rPr b="1" sz="3900" i="0" u="none">
                <a:solidFill>
                  <a:srgbClr val="0284C7"/>
                </a:solidFill>
                <a:latin typeface="Fredoka"/>
              </a:rPr>
              <a:t>Jazz Instrument Matching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" y="1617315"/>
            <a:ext cx="110680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475569"/>
                </a:solidFill>
                <a:latin typeface="Nunito"/>
              </a:rPr>
              <a:t>Justification &amp; Defence of Personal Contributions to Human-Centered Design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61975"/>
            <a:ext cx="16192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950" y="2398365"/>
            <a:ext cx="22907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Fredoka"/>
              </a:rPr>
              <a:t>PROJECT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8062" y="2398365"/>
            <a:ext cx="22907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Fredoka"/>
              </a:rPr>
              <a:t>TARGET 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2398365"/>
            <a:ext cx="22907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Fredoka"/>
              </a:rPr>
              <a:t>PLATFORM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8287" y="2398365"/>
            <a:ext cx="22907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Fredoka"/>
              </a:rPr>
              <a:t>ASSESSMENT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2243137"/>
            <a:ext cx="5391150" cy="30003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243137"/>
            <a:ext cx="5391150" cy="3000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19362"/>
            <a:ext cx="3810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2967037"/>
            <a:ext cx="508063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Overarching Team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30993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12 Gamified Jazz Levels: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Introduce early childhood learners to iconic jazz history through interactive matching mechanics.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86238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KOPO Architecture Alignment: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Standardize layouts featuring 4 answer cards, 4 hint cues, drop boxes, and score wheels.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41483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Cognitive Load Reduction: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Reframe abstract cultural narratives into engaging, accessible digital interactions.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2519362"/>
            <a:ext cx="3810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5100" y="2967037"/>
            <a:ext cx="508063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Personal Contribution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30993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3 Core Interactive Modules: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Responsible for Miles Davis (Trumpet), Thelonious Monk (Piano), and John Coltrane (Saxophone).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86238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UX &amp; Multimodal Feedback: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Designed character animations, sound triggers, and error recovery mechanics.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414837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Iterative Figma Prototyping: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Authored Lo-Fi to Hi-Fi clickable prototypes and led KOPO platform technical spikes.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Project Scope &amp; Core Goals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2105025"/>
            <a:ext cx="3536900" cy="3276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475" y="2105025"/>
            <a:ext cx="3536900" cy="3276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105025"/>
            <a:ext cx="3536900" cy="3276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362200"/>
            <a:ext cx="495300" cy="495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2990850"/>
            <a:ext cx="3173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US 1: Miles Davis (Trumpet)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333750"/>
            <a:ext cx="3022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Story: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As a student, I want to match the trumpet to Miles Davis to hear his cool jazz sound.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114800"/>
            <a:ext cx="3022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Acceptance Criteria: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Cartoon Miles wearing cool sunglasses, sparkle effect on drop, bright trumpet tune trigger, friendly "uh-oh" bounce back on error.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650" y="2362200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4650" y="2990850"/>
            <a:ext cx="3173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US 2: Thelonious Monk (Piano)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4650" y="3333750"/>
            <a:ext cx="3022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Story: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As a student, I want to match playful piano keys to Monk to trigger a fun jazz dance.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4650" y="4114800"/>
            <a:ext cx="3022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Acceptance Criteria: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Cartoon Monk wearing his signature hat, playful dance animation, voiceover reinforcement: "Great job! Monk plays piano!"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0150" y="2362200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50150" y="2990850"/>
            <a:ext cx="317367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US 3: Coltrane Sax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150" y="3333750"/>
            <a:ext cx="3022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Story: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As a student, I want to match the golden saxophone to John Coltrane to learn instrument shapes.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0150" y="4114800"/>
            <a:ext cx="30225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Acceptance Criteria: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High-contrast golden saxophone illustration, 5-second smooth jazz melody cue, visual stroke/outline hints for cognitive guidance.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2486025"/>
            <a:ext cx="2476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8475" y="2486025"/>
            <a:ext cx="247650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Personal Contribution Portfolio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028825"/>
            <a:ext cx="539115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1975" y="2028825"/>
            <a:ext cx="566070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Key Decisions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975" y="2371725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Decision: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Refactored archival historical photos into friendly cartoon character representations with distinct accessories (cool sunglasses).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1975" y="2924175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Trade-off: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Lowered historical photo realism in exchange for age-appropriate visual recognition and reduced perceptual friction (Norman, 2013).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1975" y="3476625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Multimodal Cues: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Successful drag-and-drop triggers a sparkle visual animation and an iconic audio trumpet clip.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57400"/>
            <a:ext cx="533400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Sprint Pilot 1: Miles Davis Trumpet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2028825"/>
            <a:ext cx="539115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38875" y="2028825"/>
            <a:ext cx="566070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Key Decisions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8875" y="2371725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Decision: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Created character dance animation upon correct instrument association with voiceover reinforcement ("Great job! Monk plays piano!").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8875" y="2924175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Trade-off: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Increased asset rendering size on the KOPO engine, balanced by running technical spikes to optimize sprite compression.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8875" y="3476625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Non-Punitive Feedback: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Drag errors trigger a gentle "bounce-back" animation accompanied by a soft "uh-oh" chime to preserve confidence.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057400"/>
            <a:ext cx="533400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Sprint Pilot 2: Thelonious Monk Piano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028825"/>
            <a:ext cx="539115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1975" y="2028825"/>
            <a:ext cx="566070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Key Decisions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975" y="2371725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Decision: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Added bold high-contrast outlines/strokes around the golden saxophone answer card and hint drop-boxes.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1975" y="2924175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Trade-off: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Slightly increased visual density, but drastically improved spatial affordance for 5-year-old motor skills.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1975" y="3476625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Pedagogical Goal: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Enabled early childhood learners to distinguish complex brass instrument silhouettes effortlessly.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57400"/>
            <a:ext cx="533400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Sprint Pilot 3: Coltrane Saxophone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1975" y="2305050"/>
            <a:ext cx="11068050" cy="28765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1975" y="2305050"/>
          <a:ext cx="11010899" cy="287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53269"/>
                <a:gridCol w="2853928"/>
                <a:gridCol w="3523803"/>
                <a:gridCol w="3479899"/>
              </a:tblGrid>
              <a:tr h="71913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Fredoka SemiBold"/>
                        </a:rPr>
                        <a:t>Sprint Pilot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Fredoka SemiBold"/>
                        </a:rPr>
                        <a:t>Focus &amp; Artifacts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Fredoka SemiBold"/>
                        </a:rPr>
                        <a:t>User Feedback &amp; Findings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FFFFF"/>
                          </a:solidFill>
                          <a:latin typeface="Fredoka SemiBold"/>
                        </a:rPr>
                        <a:t>Engineering Adaptation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</a:tr>
              <a:tr h="7191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Nunito"/>
                        </a:rPr>
                        <a:t>Sprint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unito SemiBold"/>
                        </a:rPr>
                        <a:t>Miles Davis Trumpet Level &amp; Wireframes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unito SemiBold"/>
                        </a:rPr>
                        <a:t>Historical photos confused 5-year-olds; high drop-off.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unito SemiBold"/>
                        </a:rPr>
                        <a:t>Shifted to cartoon illustrations with signature traits.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191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Nunito"/>
                        </a:rPr>
                        <a:t>Sprint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unito SemiBold"/>
                        </a:rPr>
                        <a:t>Thelonious Monk &amp; Audio Voiceovers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unito SemiBold"/>
                        </a:rPr>
                        <a:t>Hesitation during matching tasks; static cards felt dry.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unito SemiBold"/>
                        </a:rPr>
                        <a:t>Integrated dancing animations &amp; voiceover praise.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19139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Nunito"/>
                        </a:rPr>
                        <a:t>Sprint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unito SemiBold"/>
                        </a:rPr>
                        <a:t>Coltrane Sax &amp; KOPO Architecture Spikes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unito SemiBold"/>
                        </a:rPr>
                        <a:t>Missed drop-zones due to imprecise finger dragging.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Nunito SemiBold"/>
                        </a:rPr>
                        <a:t>Added thick stroke outlines &amp; enlarged drop targets.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3114675"/>
            <a:ext cx="1153269" cy="28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43819" y="3114675"/>
            <a:ext cx="2853928" cy="28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97747" y="3114675"/>
            <a:ext cx="3523803" cy="28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1550" y="3114675"/>
            <a:ext cx="3479899" cy="28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3800475"/>
            <a:ext cx="115326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43819" y="3800475"/>
            <a:ext cx="285392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97747" y="3800475"/>
            <a:ext cx="3523803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21550" y="3800475"/>
            <a:ext cx="347989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0550" y="4476750"/>
            <a:ext cx="115326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43819" y="4476750"/>
            <a:ext cx="285392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7747" y="4476750"/>
            <a:ext cx="3523803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1550" y="4476750"/>
            <a:ext cx="347989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Sprint Iterations Comparison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2628900"/>
            <a:ext cx="5391150" cy="2228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57400" y="3048000"/>
            <a:ext cx="24003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  <a:defRPr/>
            </a:pPr>
            <a:r>
              <a:rPr b="1" sz="8250" i="0" u="none">
                <a:solidFill>
                  <a:srgbClr val="D97706"/>
                </a:solidFill>
                <a:latin typeface="Fredoka"/>
              </a:rP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812" y="4191000"/>
            <a:ext cx="26574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Fredoka SemiBold"/>
              </a:rPr>
              <a:t>Non-Punitive Feedback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8875" y="2628900"/>
            <a:ext cx="566070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Empirical Justification &amp; Human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8875" y="2971800"/>
            <a:ext cx="5391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Cognitive Load Optimization: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Replacing dense historical photos with high-contrast cartoon figures reduced perceptual processing demands for 6-year-olds (Norman, 2013).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3752850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Confidence Preservation: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Immediate auditory cues ("uh-oh" chime) and gentle bounce-back animations eliminated failure anxiety during drag errors.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4305300"/>
            <a:ext cx="5391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Multimodal Learning: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Simultaneous visual sparkle effects, audio tunes, and voiceovers reinforced correct audio-visual associations.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Design Impact &amp; Justification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2628900"/>
            <a:ext cx="5391150" cy="2228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628900"/>
            <a:ext cx="5391150" cy="2228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905125"/>
            <a:ext cx="508063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Historical Realism vs. Cognitive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248025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Trade-Off: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Compromised strict archival photo authenticity in favor of simplified cartoon representations.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800475"/>
            <a:ext cx="4838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Rationale: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Kindergarten learners process vibrant, high-contrast shapes far more effectively. Lowering cognitive friction was prioritized to achieve core pedagogical goals (Piaget, 1962).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2905125"/>
            <a:ext cx="508063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redoka SemiBold"/>
              </a:rPr>
              <a:t>Full Scope (12 Figures) vs. Timebox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3248025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Trade-Off: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Balancing extensive content coverage with strict sprint delivery deadlines.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800475"/>
            <a:ext cx="4838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Black"/>
              </a:rPr>
              <a:t>Rationale:</a:t>
            </a:r>
            <a:r>
              <a:rPr b="0" sz="1200" i="0" u="none">
                <a:solidFill>
                  <a:srgbClr val="334155"/>
                </a:solidFill>
                <a:latin typeface="Nunito SemiBold"/>
              </a:rPr>
              <a:t> Systematically built reusable modular UI components and template assets in Figma. Accelerated asset production without compromising historical diversity.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Key Trade-Offs &amp;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3971925"/>
            <a:ext cx="2545556" cy="1257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806" y="2257425"/>
            <a:ext cx="2545556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637" y="3971925"/>
            <a:ext cx="2545556" cy="1257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68" y="2257425"/>
            <a:ext cx="2545556" cy="1257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1975" y="3714750"/>
            <a:ext cx="11068050" cy="571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359" y="4152900"/>
            <a:ext cx="229278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Fredoka SemiBold"/>
              </a:rPr>
              <a:t>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4495800"/>
            <a:ext cx="21836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SemiBold"/>
              </a:rPr>
              <a:t>Research &amp; cartoon character design in Figma.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9191" y="2438400"/>
            <a:ext cx="229278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Fredoka SemiBold"/>
              </a:rPr>
              <a:t>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3781" y="2781300"/>
            <a:ext cx="21836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SemiBold"/>
              </a:rPr>
              <a:t>Audio integration &amp; dance animation triggers.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022" y="4152900"/>
            <a:ext cx="229278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Fredoka SemiBold"/>
              </a:rPr>
              <a:t>Sprint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4612" y="4495800"/>
            <a:ext cx="21836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SemiBold"/>
              </a:rPr>
              <a:t>KOPO platform integration &amp; stroke hints.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0853" y="2438400"/>
            <a:ext cx="229278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Fredoka SemiBold"/>
              </a:rPr>
              <a:t>Final Defence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5443" y="2781300"/>
            <a:ext cx="21836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SemiBold"/>
              </a:rPr>
              <a:t>Usability verification &amp; Definition of Done audit.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SCRUM Development Milestones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20453" y="3629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285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61284" y="3629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285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2115" y="3629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285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42946" y="3629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285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1975" y="2281237"/>
            <a:ext cx="11068050" cy="597693"/>
          </a:xfrm>
          <a:prstGeom prst="roundRect">
            <a:avLst>
              <a:gd name="adj" fmla="val 25498"/>
            </a:avLst>
          </a:prstGeom>
          <a:solidFill>
            <a:srgbClr val="E0F2FE"/>
          </a:solidFill>
          <a:ln w="285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6325" y="2433637"/>
            <a:ext cx="10363200" cy="292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b="0" sz="1237" i="0" u="none">
                <a:solidFill>
                  <a:srgbClr val="334155"/>
                </a:solidFill>
                <a:latin typeface="Nunito Black"/>
              </a:rPr>
              <a:t>Communication &amp; Team Synergy:</a:t>
            </a:r>
            <a:r>
              <a:rPr b="0" sz="1237" i="0" u="none">
                <a:solidFill>
                  <a:srgbClr val="334155"/>
                </a:solidFill>
                <a:latin typeface="Nunito SemiBold"/>
              </a:rPr>
              <a:t> Maintained daily async check-ins; resolved KOPO UI layout discrepancies early in the sprint 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1975" y="3012281"/>
            <a:ext cx="11068050" cy="597693"/>
          </a:xfrm>
          <a:prstGeom prst="roundRect">
            <a:avLst>
              <a:gd name="adj" fmla="val 25498"/>
            </a:avLst>
          </a:prstGeom>
          <a:solidFill>
            <a:srgbClr val="FFEDD5"/>
          </a:solidFill>
          <a:ln w="285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325" y="3164681"/>
            <a:ext cx="10363200" cy="292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b="0" sz="1237" i="0" u="none">
                <a:solidFill>
                  <a:srgbClr val="334155"/>
                </a:solidFill>
                <a:latin typeface="Nunito Black"/>
              </a:rPr>
              <a:t>Goal Achievement:</a:t>
            </a:r>
            <a:r>
              <a:rPr b="0" sz="1237" i="0" u="none">
                <a:solidFill>
                  <a:srgbClr val="334155"/>
                </a:solidFill>
                <a:latin typeface="Nunito SemiBold"/>
              </a:rPr>
              <a:t> Successfully delivered all 3 assigned user stories fulfilling 100% of acceptance criteria and Definition of Done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1975" y="3743325"/>
            <a:ext cx="11068050" cy="597693"/>
          </a:xfrm>
          <a:prstGeom prst="roundRect">
            <a:avLst>
              <a:gd name="adj" fmla="val 25498"/>
            </a:avLst>
          </a:prstGeom>
          <a:solidFill>
            <a:srgbClr val="FCE7F3"/>
          </a:solidFill>
          <a:ln w="285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6325" y="3895725"/>
            <a:ext cx="10363200" cy="292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b="0" sz="1237" i="0" u="none">
                <a:solidFill>
                  <a:srgbClr val="334155"/>
                </a:solidFill>
                <a:latin typeface="Nunito Black"/>
              </a:rPr>
              <a:t>Applying SCRUM Moving Forward:</a:t>
            </a:r>
            <a:r>
              <a:rPr b="0" sz="1237" i="0" u="none">
                <a:solidFill>
                  <a:srgbClr val="334155"/>
                </a:solidFill>
                <a:latin typeface="Nunito SemiBold"/>
              </a:rPr>
              <a:t> Incorporate formal peer design reviews during Sprint Planning to refine asset reusable specs earlier.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1975" y="4474368"/>
            <a:ext cx="11068050" cy="597693"/>
          </a:xfrm>
          <a:prstGeom prst="roundRect">
            <a:avLst>
              <a:gd name="adj" fmla="val 25498"/>
            </a:avLst>
          </a:prstGeom>
          <a:solidFill>
            <a:srgbClr val="DCFCE7"/>
          </a:solidFill>
          <a:ln w="285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6325" y="4626768"/>
            <a:ext cx="10363200" cy="2928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b="0" sz="1237" i="0" u="none">
                <a:solidFill>
                  <a:srgbClr val="334155"/>
                </a:solidFill>
                <a:latin typeface="Nunito Black"/>
              </a:rPr>
              <a:t>Enhanced Automated Testing:</a:t>
            </a:r>
            <a:r>
              <a:rPr b="0" sz="1237" i="0" u="none">
                <a:solidFill>
                  <a:srgbClr val="334155"/>
                </a:solidFill>
                <a:latin typeface="Nunito SemiBold"/>
              </a:rPr>
              <a:t> Establish automated asset validation scripts for KOPO game deployment to reduce manual review overhead.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1975" y="2850356"/>
            <a:ext cx="11068050" cy="28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1975" y="3581400"/>
            <a:ext cx="11068050" cy="28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1975" y="4312443"/>
            <a:ext cx="11068050" cy="28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1975" y="5043487"/>
            <a:ext cx="11068050" cy="28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76500"/>
            <a:ext cx="266700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07543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938587"/>
            <a:ext cx="2095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669631"/>
            <a:ext cx="209550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Self-Reflection &amp; Future SCRUM Improvements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050" y="466725"/>
            <a:ext cx="148590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273" y="1143000"/>
            <a:ext cx="1162145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450" i="0" u="none">
                <a:solidFill>
                  <a:srgbClr val="0F172A"/>
                </a:solidFill>
                <a:latin typeface="Fredoka"/>
              </a:rPr>
              <a:t>Conclusion &amp; Defence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975" y="1676400"/>
            <a:ext cx="110680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Nunito SemiBold"/>
              </a:rPr>
              <a:t>Thank you for reviewing my CP5046 Individual Video Defence Presentation.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590550"/>
            <a:ext cx="1524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912" y="2562225"/>
            <a:ext cx="2286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0387" y="2486025"/>
            <a:ext cx="2371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0000"/>
                </a:solidFill>
                <a:latin typeface="Nunito"/>
              </a:rPr>
              <a:t>Figma Interactive Prototype:</a:t>
            </a:r>
            <a:r>
              <a:t>
</a:t>
            </a:r>
            <a:r>
              <a:rPr b="0" sz="1350" i="0" u="none">
                <a:solidFill>
                  <a:srgbClr val="0284C7"/>
                </a:solidFill>
                <a:latin typeface="Nunito ExtraBold"/>
              </a:rPr>
              <a:t>View Figma Design Artifacts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362" y="2562225"/>
            <a:ext cx="3810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3237" y="2486025"/>
            <a:ext cx="2609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0000"/>
                </a:solidFill>
                <a:latin typeface="Nunito"/>
              </a:rPr>
              <a:t>KOPO Live Game Engine:</a:t>
            </a:r>
            <a:r>
              <a:t>
</a:t>
            </a:r>
            <a:r>
              <a:rPr b="0" sz="1350" i="0" u="none">
                <a:solidFill>
                  <a:srgbClr val="0284C7"/>
                </a:solidFill>
                <a:latin typeface="Nunito ExtraBold"/>
              </a:rPr>
              <a:t>Play KOPO Jazz Matching Game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1975" y="2333625"/>
            <a:ext cx="1106805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1975" y="3276600"/>
            <a:ext cx="1106805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1975" y="3267075"/>
            <a:ext cx="110680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1975" y="3267075"/>
            <a:ext cx="110680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1975" y="4210050"/>
            <a:ext cx="110680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1975" y="4210050"/>
            <a:ext cx="110680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2562225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57350" y="2476500"/>
            <a:ext cx="9972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unito SemiBold"/>
              </a:rPr>
              <a:t>https://media.istockphoto.com/id/2149837657/vector/saxophonist-plays-music-on-wind-instrument-performs-in-jazz-concert-musician-hold-gold.jpg?s=612x612&amp;w=0&amp;k=20&amp;c=r7iv9L_p9rabzwDVXZhQjwnM7NYziGRNPvEGrn2Jzi8=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7350" y="2895600"/>
            <a:ext cx="99726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SemiBold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unito SemiBold"/>
              </a:rPr>
              <a:t>www.istockphoto.com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3505200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57350" y="3419475"/>
            <a:ext cx="9972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unito SemiBold"/>
              </a:rPr>
              <a:t>https://static.vecteezy.com/system/resources/previews/013/696/397/non_2x/education-game-for-children-cut-and-match-the-same-color-of-cartoon-piano-printable-music-instrument-worksheet-vector.jpg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7350" y="3838575"/>
            <a:ext cx="99726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SemiBold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unito SemiBold"/>
              </a:rPr>
              <a:t>www.vecteezy.com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4448175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57350" y="4362450"/>
            <a:ext cx="99726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Nunito SemiBold"/>
              </a:rPr>
              <a:t>https://elements-resized.envatousercontent.com/elements-cover-images/54032082-3417-417c-b1e7-f3846b6a495a?w=433&amp;cf_fit=scale-down&amp;q=85&amp;format=auto&amp;s=c298c55f5da30a47d3385b00f66be5f4858927f014fb85a61c78468f38117edb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7350" y="4781550"/>
            <a:ext cx="99726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Nunito SemiBold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unito SemiBold"/>
              </a:rPr>
              <a:t>elements.envato.com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975" y="466725"/>
            <a:ext cx="1162145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Fredoka"/>
              </a:rPr>
              <a:t>Image 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1975" y="857250"/>
            <a:ext cx="152400" cy="3238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90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