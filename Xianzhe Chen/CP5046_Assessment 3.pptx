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1874520"/>
            <a:ext cx="10241280" cy="2907792"/>
          </a:xfrm>
          <a:prstGeom prst="roundRect">
            <a:avLst>
              <a:gd name="adj" fmla="val 8176"/>
            </a:avLst>
          </a:prstGeom>
          <a:solidFill>
            <a:srgbClr val="FFFFFF">
              <a:alpha val="87000"/>
            </a:srgbClr>
          </a:solidFill>
          <a:ln w="13970">
            <a:solidFill>
              <a:srgbClr val="F0C36B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444752" y="2139696"/>
            <a:ext cx="9326880" cy="32004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CP5046 Group Presentation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2606040"/>
            <a:ext cx="9464040" cy="59436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Kindergarten Learning Game Design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527048" y="3310128"/>
            <a:ext cx="914400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B2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Counting · Ordering · Comparison · Matching · Sorting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72768" y="3858768"/>
            <a:ext cx="9052560" cy="21945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Assessment 3 · Professor Insu Song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72768" y="4169664"/>
            <a:ext cx="9052560" cy="21945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Wang, Weichao Sun, Chen Xianzhe, Haoyang Liu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Charter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roles and the game themes each member contributed</a:t>
            </a:r>
            <a:endParaRPr lang="en-US" sz="1120" dirty="0"/>
          </a:p>
        </p:txBody>
      </p:sp>
      <p:pic>
        <p:nvPicPr>
          <p:cNvPr id="38" name="Picture 37" descr="ecfbac4e-4ce2-557f-a5cd-975f86022a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00223"/>
            <a:ext cx="1911096" cy="9406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25296"/>
            <a:ext cx="2423160" cy="4526280"/>
          </a:xfrm>
          <a:prstGeom prst="roundRect">
            <a:avLst>
              <a:gd name="adj" fmla="val 6792"/>
            </a:avLst>
          </a:prstGeom>
          <a:solidFill>
            <a:srgbClr val="FFFFFF">
              <a:alpha val="97000"/>
            </a:srgbClr>
          </a:solidFill>
          <a:ln w="17145">
            <a:solidFill>
              <a:srgbClr val="F39B21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1444752"/>
            <a:ext cx="200253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40664" y="2697480"/>
            <a:ext cx="2075688" cy="237744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100" b="1">
                <a:solidFill>
                  <a:srgbClr val="18422A"/>
                </a:solidFill>
              </a:defRPr>
            </a:pPr>
            <a:r>
              <a:rPr lang="en-US" sz="110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</a:t>
            </a:r>
            <a:endParaRPr lang="en-US" sz="1420" dirty="0"/>
          </a:p>
        </p:txBody>
      </p:sp>
      <p:sp>
        <p:nvSpPr>
          <p:cNvPr id="9" name="Text 5"/>
          <p:cNvSpPr/>
          <p:nvPr/>
        </p:nvSpPr>
        <p:spPr>
          <a:xfrm>
            <a:off x="749808" y="2990088"/>
            <a:ext cx="205740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760" b="0">
                <a:solidFill>
                  <a:srgbClr val="282828"/>
                </a:solidFill>
              </a:defRPr>
            </a:pPr>
            <a:r>
              <a:rPr lang="en-US" sz="760" b="0" dirty="0">
                <a:solidFill>
                  <a:srgbClr val="28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 Designer / Scrum Coordinator</a:t>
            </a:r>
            <a:endParaRPr lang="en-US" sz="870" dirty="0"/>
          </a:p>
        </p:txBody>
      </p:sp>
      <p:sp>
        <p:nvSpPr>
          <p:cNvPr id="10" name="Shape 6"/>
          <p:cNvSpPr/>
          <p:nvPr/>
        </p:nvSpPr>
        <p:spPr>
          <a:xfrm>
            <a:off x="795528" y="3456432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FFE7C5"/>
          </a:solidFill>
          <a:ln w="10160">
            <a:solidFill>
              <a:srgbClr val="FFE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32104" y="3493008"/>
            <a:ext cx="189280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80" b="1">
                <a:solidFill>
                  <a:srgbClr val="18422A"/>
                </a:solidFill>
              </a:defRPr>
            </a:pPr>
            <a:r>
              <a:rPr lang="en-US" sz="88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Math + ordering games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859536" y="3977640"/>
            <a:ext cx="1874520" cy="1143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  <a:defRPr sz="810" b="0">
                <a:solidFill>
                  <a:srgbClr val="1E1E1E"/>
                </a:solidFill>
              </a:defRPr>
            </a:pPr>
            <a:r>
              <a:rPr lang="en-US" sz="810" b="0" dirty="0">
                <a:solidFill>
                  <a:srgbClr val="1E1E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Fruit counting
•  Animal ordering
•  Vehicle ordering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72968" y="1225296"/>
            <a:ext cx="2423160" cy="4526280"/>
          </a:xfrm>
          <a:prstGeom prst="roundRect">
            <a:avLst>
              <a:gd name="adj" fmla="val 6792"/>
            </a:avLst>
          </a:prstGeom>
          <a:solidFill>
            <a:srgbClr val="FFFFFF">
              <a:alpha val="97000"/>
            </a:srgbClr>
          </a:solidFill>
          <a:ln w="17145">
            <a:solidFill>
              <a:srgbClr val="53A3D7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3383280" y="1444752"/>
            <a:ext cx="200253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mnt/data/docx_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68" y="1490472"/>
            <a:ext cx="1822359" cy="9601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46704" y="2697480"/>
            <a:ext cx="2075688" cy="237744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100" b="1">
                <a:solidFill>
                  <a:srgbClr val="18422A"/>
                </a:solidFill>
              </a:defRPr>
            </a:pPr>
            <a:r>
              <a:rPr lang="en-US" sz="110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Weichao Sun</a:t>
            </a:r>
            <a:endParaRPr lang="en-US" sz="1420" dirty="0"/>
          </a:p>
        </p:txBody>
      </p:sp>
      <p:sp>
        <p:nvSpPr>
          <p:cNvPr id="17" name="Text 12"/>
          <p:cNvSpPr/>
          <p:nvPr/>
        </p:nvSpPr>
        <p:spPr>
          <a:xfrm>
            <a:off x="3355848" y="2990088"/>
            <a:ext cx="205740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760" b="0">
                <a:solidFill>
                  <a:srgbClr val="282828"/>
                </a:solidFill>
              </a:defRPr>
            </a:pPr>
            <a:r>
              <a:rPr lang="en-US" sz="760" b="0" dirty="0">
                <a:solidFill>
                  <a:srgbClr val="28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Leader / Game Designer</a:t>
            </a:r>
            <a:endParaRPr lang="en-US" sz="870" dirty="0"/>
          </a:p>
        </p:txBody>
      </p:sp>
      <p:sp>
        <p:nvSpPr>
          <p:cNvPr id="18" name="Shape 13"/>
          <p:cNvSpPr/>
          <p:nvPr/>
        </p:nvSpPr>
        <p:spPr>
          <a:xfrm>
            <a:off x="3401568" y="3456432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DDF2FF"/>
          </a:solidFill>
          <a:ln w="10160">
            <a:solidFill>
              <a:srgbClr val="DD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3438144" y="3493008"/>
            <a:ext cx="189280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80" b="1">
                <a:solidFill>
                  <a:srgbClr val="18422A"/>
                </a:solidFill>
              </a:defRPr>
            </a:pPr>
            <a:r>
              <a:rPr lang="en-US" sz="88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English comparison games</a:t>
            </a:r>
            <a:endParaRPr lang="en-US" sz="920" dirty="0"/>
          </a:p>
        </p:txBody>
      </p:sp>
      <p:sp>
        <p:nvSpPr>
          <p:cNvPr id="20" name="Text 15"/>
          <p:cNvSpPr/>
          <p:nvPr/>
        </p:nvSpPr>
        <p:spPr>
          <a:xfrm>
            <a:off x="3465576" y="3977640"/>
            <a:ext cx="1874520" cy="1143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  <a:defRPr sz="810" b="0">
                <a:solidFill>
                  <a:srgbClr val="1E1E1E"/>
                </a:solidFill>
              </a:defRPr>
            </a:pPr>
            <a:r>
              <a:rPr lang="en-US" sz="810" b="0" dirty="0">
                <a:solidFill>
                  <a:srgbClr val="1E1E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Animal size
•  Item size
•  Food size</a:t>
            </a:r>
            <a:endParaRPr lang="en-US" sz="1050" dirty="0"/>
          </a:p>
        </p:txBody>
      </p:sp>
      <p:pic>
        <p:nvPicPr>
          <p:cNvPr id="39" name="Picture 38" descr="9a8a19bd-812d-543d-a022-3fe1582ac02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068" y="1490472"/>
            <a:ext cx="1793039" cy="9601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779008" y="1225296"/>
            <a:ext cx="2423160" cy="4526280"/>
          </a:xfrm>
          <a:prstGeom prst="roundRect">
            <a:avLst>
              <a:gd name="adj" fmla="val 6792"/>
            </a:avLst>
          </a:prstGeom>
          <a:solidFill>
            <a:srgbClr val="FFFFFF">
              <a:alpha val="97000"/>
            </a:srgbClr>
          </a:solidFill>
          <a:ln w="17145">
            <a:solidFill>
              <a:srgbClr val="B691DD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5989320" y="1444752"/>
            <a:ext cx="200253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5952744" y="2697480"/>
            <a:ext cx="2075688" cy="237744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100" b="1">
                <a:solidFill>
                  <a:srgbClr val="18422A"/>
                </a:solidFill>
              </a:defRPr>
            </a:pPr>
            <a:r>
              <a:rPr lang="en-US" sz="110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Chen Xianzhe</a:t>
            </a:r>
            <a:endParaRPr lang="en-US" sz="1420" dirty="0"/>
          </a:p>
        </p:txBody>
      </p:sp>
      <p:sp>
        <p:nvSpPr>
          <p:cNvPr id="25" name="Text 19"/>
          <p:cNvSpPr/>
          <p:nvPr/>
        </p:nvSpPr>
        <p:spPr>
          <a:xfrm>
            <a:off x="5961888" y="2990088"/>
            <a:ext cx="205740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760" b="0">
                <a:solidFill>
                  <a:srgbClr val="282828"/>
                </a:solidFill>
              </a:defRPr>
            </a:pPr>
            <a:r>
              <a:rPr lang="en-US" sz="760" b="0" dirty="0">
                <a:solidFill>
                  <a:srgbClr val="28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Designer / Tester</a:t>
            </a:r>
            <a:endParaRPr lang="en-US" sz="870" dirty="0"/>
          </a:p>
        </p:txBody>
      </p:sp>
      <p:sp>
        <p:nvSpPr>
          <p:cNvPr id="26" name="Shape 20"/>
          <p:cNvSpPr/>
          <p:nvPr/>
        </p:nvSpPr>
        <p:spPr>
          <a:xfrm>
            <a:off x="6007608" y="3456432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FFE5E2"/>
          </a:solidFill>
          <a:ln w="10160">
            <a:solidFill>
              <a:srgbClr val="FFE5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6044184" y="3493008"/>
            <a:ext cx="189280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80" b="1">
                <a:solidFill>
                  <a:srgbClr val="18422A"/>
                </a:solidFill>
              </a:defRPr>
            </a:pPr>
            <a:r>
              <a:rPr lang="en-US" sz="88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Music matching games</a:t>
            </a:r>
            <a:endParaRPr lang="en-US" sz="920" dirty="0"/>
          </a:p>
        </p:txBody>
      </p:sp>
      <p:sp>
        <p:nvSpPr>
          <p:cNvPr id="28" name="Text 22"/>
          <p:cNvSpPr/>
          <p:nvPr/>
        </p:nvSpPr>
        <p:spPr>
          <a:xfrm>
            <a:off x="6071616" y="3977640"/>
            <a:ext cx="1874520" cy="1143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  <a:defRPr sz="810" b="0">
                <a:solidFill>
                  <a:srgbClr val="1E1E1E"/>
                </a:solidFill>
              </a:defRPr>
            </a:pPr>
            <a:r>
              <a:rPr lang="en-US" sz="810" b="0" dirty="0">
                <a:solidFill>
                  <a:srgbClr val="1E1E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Musicians
•  Instruments
•  Jazz matching</a:t>
            </a:r>
            <a:endParaRPr lang="en-US" sz="1050" dirty="0"/>
          </a:p>
        </p:txBody>
      </p:sp>
      <p:pic>
        <p:nvPicPr>
          <p:cNvPr id="40" name="Picture 39" descr="f84485a5-9e52-5f38-85d0-ac57b0aaf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651" y="1490472"/>
            <a:ext cx="1813954" cy="9601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385048" y="1225296"/>
            <a:ext cx="2423160" cy="4526280"/>
          </a:xfrm>
          <a:prstGeom prst="roundRect">
            <a:avLst>
              <a:gd name="adj" fmla="val 6792"/>
            </a:avLst>
          </a:prstGeom>
          <a:solidFill>
            <a:srgbClr val="FFFFFF">
              <a:alpha val="97000"/>
            </a:srgbClr>
          </a:solidFill>
          <a:ln w="17145">
            <a:solidFill>
              <a:srgbClr val="5FB66A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8595360" y="1444752"/>
            <a:ext cx="200253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5"/>
          <p:cNvSpPr/>
          <p:nvPr/>
        </p:nvSpPr>
        <p:spPr>
          <a:xfrm>
            <a:off x="8558784" y="2697480"/>
            <a:ext cx="2075688" cy="237744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100" b="1">
                <a:solidFill>
                  <a:srgbClr val="18422A"/>
                </a:solidFill>
              </a:defRPr>
            </a:pPr>
            <a:r>
              <a:rPr lang="en-US" sz="110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Haoyang Liu</a:t>
            </a:r>
            <a:endParaRPr lang="en-US" sz="1420" dirty="0"/>
          </a:p>
        </p:txBody>
      </p:sp>
      <p:sp>
        <p:nvSpPr>
          <p:cNvPr id="33" name="Text 26"/>
          <p:cNvSpPr/>
          <p:nvPr/>
        </p:nvSpPr>
        <p:spPr>
          <a:xfrm>
            <a:off x="8567928" y="2990088"/>
            <a:ext cx="205740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760" b="0">
                <a:solidFill>
                  <a:srgbClr val="282828"/>
                </a:solidFill>
              </a:defRPr>
            </a:pPr>
            <a:r>
              <a:rPr lang="en-US" sz="760" b="0" dirty="0">
                <a:solidFill>
                  <a:srgbClr val="28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 Designer / Scrum Coordinator</a:t>
            </a:r>
            <a:endParaRPr lang="en-US" sz="870" dirty="0"/>
          </a:p>
        </p:txBody>
      </p:sp>
      <p:sp>
        <p:nvSpPr>
          <p:cNvPr id="34" name="Shape 27"/>
          <p:cNvSpPr/>
          <p:nvPr/>
        </p:nvSpPr>
        <p:spPr>
          <a:xfrm>
            <a:off x="8613648" y="3456432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E6F6DF"/>
          </a:solidFill>
          <a:ln w="10160">
            <a:solidFill>
              <a:srgbClr val="E6F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8"/>
          <p:cNvSpPr/>
          <p:nvPr/>
        </p:nvSpPr>
        <p:spPr>
          <a:xfrm>
            <a:off x="8650224" y="3493008"/>
            <a:ext cx="189280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80" b="1">
                <a:solidFill>
                  <a:srgbClr val="18422A"/>
                </a:solidFill>
              </a:defRPr>
            </a:pPr>
            <a:r>
              <a:rPr lang="en-US" sz="880" b="1" dirty="0">
                <a:solidFill>
                  <a:srgbClr val="184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 sorting games</a:t>
            </a:r>
            <a:endParaRPr lang="en-US" sz="920" dirty="0"/>
          </a:p>
        </p:txBody>
      </p:sp>
      <p:sp>
        <p:nvSpPr>
          <p:cNvPr id="36" name="Text 29"/>
          <p:cNvSpPr/>
          <p:nvPr/>
        </p:nvSpPr>
        <p:spPr>
          <a:xfrm>
            <a:off x="8677656" y="3977640"/>
            <a:ext cx="1874520" cy="1143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  <a:defRPr sz="810" b="0">
                <a:solidFill>
                  <a:srgbClr val="1E1E1E"/>
                </a:solidFill>
              </a:defRPr>
            </a:pPr>
            <a:r>
              <a:rPr lang="en-US" sz="810" b="0" dirty="0">
                <a:solidFill>
                  <a:srgbClr val="1E1E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Colour sorting
•  Start with a letter
•  Categorise by colour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58368" y="6099048"/>
            <a:ext cx="1088136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  <a:defRPr sz="680" b="0">
                <a:solidFill>
                  <a:srgbClr val="505050"/>
                </a:solidFill>
              </a:defRPr>
            </a:pPr>
            <a:r>
              <a:rPr lang="en-US" sz="680" b="0" dirty="0">
                <a:solidFill>
                  <a:srgbClr val="5050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Shared FigJam project: https://www.figma.com/board/wcrZx8euXC17OJRNFkbkiT/2026-TR2-ICT1-Group-1</a:t>
            </a:r>
            <a:endParaRPr lang="en-US" sz="830" dirty="0"/>
          </a:p>
        </p:txBody>
      </p:sp>
      <p:pic>
        <p:nvPicPr>
          <p:cNvPr id="41" name="Picture 40" descr="tmp_Bohong_Wang_square_940618_9406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8199" y="1500223"/>
            <a:ext cx="940618" cy="940618"/>
          </a:xfrm>
          <a:prstGeom prst="rect">
            <a:avLst/>
          </a:prstGeom>
        </p:spPr>
      </p:pic>
      <p:pic>
        <p:nvPicPr>
          <p:cNvPr id="42" name="Picture 41" descr="tmp_Chen_Xianzhe_square_960120_9601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7" y="1490472"/>
            <a:ext cx="960120" cy="960120"/>
          </a:xfrm>
          <a:prstGeom prst="rect">
            <a:avLst/>
          </a:prstGeom>
        </p:spPr>
      </p:pic>
      <p:pic>
        <p:nvPicPr>
          <p:cNvPr id="43" name="Picture 42" descr="tmp_Haoyang_Liu_square_960120_96012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6568" y="1490472"/>
            <a:ext cx="960120" cy="960120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3904487" y="1490472"/>
            <a:ext cx="960120" cy="960120"/>
          </a:xfrm>
          <a:prstGeom prst="ellipse">
            <a:avLst/>
          </a:prstGeom>
          <a:solidFill>
            <a:srgbClr val="E6F2FA"/>
          </a:solidFill>
          <a:ln w="19050">
            <a:solidFill>
              <a:srgbClr val="3F9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2800" b="1">
                <a:solidFill>
                  <a:srgbClr val="287846"/>
                </a:solidFill>
              </a:defRPr>
            </a:pPr>
            <a:r>
              <a:rPr sz="2800" b="1">
                <a:solidFill>
                  <a:srgbClr val="287846"/>
                </a:solidFill>
              </a:rPr>
              <a:t>SW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3368" y="1490472"/>
            <a:ext cx="18223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904487" y="1490472"/>
            <a:ext cx="960120" cy="960120"/>
          </a:xfrm>
          <a:prstGeom prst="ellipse">
            <a:avLst/>
          </a:prstGeom>
          <a:solidFill>
            <a:srgbClr val="E6F2FA"/>
          </a:solidFill>
          <a:ln w="19050">
            <a:solidFill>
              <a:srgbClr val="3F9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2800" b="1">
                <a:solidFill>
                  <a:srgbClr val="287846"/>
                </a:solidFill>
              </a:defRPr>
            </a:pPr>
            <a:r>
              <a:rPr sz="2800" b="1">
                <a:solidFill>
                  <a:srgbClr val="287846"/>
                </a:solidFill>
              </a:rPr>
              <a:t>SW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Goals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goal was to design a small portfolio of child-friendly KOPO learning games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658368" y="1170432"/>
            <a:ext cx="5120640" cy="4709160"/>
          </a:xfrm>
          <a:prstGeom prst="roundRect">
            <a:avLst>
              <a:gd name="adj" fmla="val 349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60120" y="1444752"/>
            <a:ext cx="448056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we developed the goals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1755648"/>
            <a:ext cx="4434840" cy="1998667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Used user stories and team reviews to clarify learning needs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•  Kept instructions short for kindergarten learners aged 4-6
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Selected familiar content: fruits, animals, vehicles, food, items, music and colours
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Used Figma / FigJam for planning and KOPO for prototype screens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4480560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Specific design outcomes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343400"/>
            <a:ext cx="4434840" cy="14173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12 prototype levels across four learning directions</a:t>
            </a:r>
          </a:p>
          <a:p>
            <a:pPr marL="0" indent="0">
              <a:buNone/>
            </a:pPr>
            <a:r>
              <a:rPr lang="en-US" sz="142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•  Large images, simple drag/drop or click interaction, and clear feedback</a:t>
            </a:r>
          </a:p>
          <a:p>
            <a:pPr marL="0" indent="0">
              <a:buNone/>
            </a:pPr>
            <a:r>
              <a:rPr lang="en-US" sz="142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•  Reusable screen structure to reduce confusion across levels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6309360" y="1234440"/>
            <a:ext cx="5074920" cy="4526280"/>
          </a:xfrm>
          <a:prstGeom prst="roundRect">
            <a:avLst>
              <a:gd name="adj" fmla="val 363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2C7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772400" y="1572768"/>
            <a:ext cx="2148840" cy="347472"/>
          </a:xfrm>
          <a:prstGeom prst="roundRect">
            <a:avLst>
              <a:gd name="adj" fmla="val 42105"/>
            </a:avLst>
          </a:prstGeom>
          <a:solidFill>
            <a:srgbClr val="DDF2FF"/>
          </a:solidFill>
          <a:ln w="10160">
            <a:solidFill>
              <a:srgbClr val="DD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08976" y="1609344"/>
            <a:ext cx="207568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D7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(4 members)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41664" y="2002536"/>
            <a:ext cx="228600" cy="237744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406640" y="2359152"/>
            <a:ext cx="2880360" cy="347472"/>
          </a:xfrm>
          <a:prstGeom prst="roundRect">
            <a:avLst>
              <a:gd name="adj" fmla="val 42105"/>
            </a:avLst>
          </a:prstGeom>
          <a:solidFill>
            <a:srgbClr val="E6F6DF"/>
          </a:solidFill>
          <a:ln w="10160">
            <a:solidFill>
              <a:srgbClr val="E6F6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443216" y="2395728"/>
            <a:ext cx="2807208" cy="27432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KOPO learning game levels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65392" y="3136392"/>
            <a:ext cx="941832" cy="1078992"/>
          </a:xfrm>
          <a:prstGeom prst="roundRect">
            <a:avLst>
              <a:gd name="adj" fmla="val 17476"/>
            </a:avLst>
          </a:prstGeom>
          <a:solidFill>
            <a:srgbClr val="FFE7C5"/>
          </a:solidFill>
          <a:ln w="13970">
            <a:solidFill>
              <a:srgbClr val="F39B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29400" y="3255264"/>
            <a:ext cx="822960" cy="77724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🍎 Counting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&amp; ordering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7754112" y="3136392"/>
            <a:ext cx="941832" cy="1078992"/>
          </a:xfrm>
          <a:prstGeom prst="roundRect">
            <a:avLst>
              <a:gd name="adj" fmla="val 17476"/>
            </a:avLst>
          </a:prstGeom>
          <a:solidFill>
            <a:srgbClr val="DDF2FF"/>
          </a:solidFill>
          <a:ln w="13970">
            <a:solidFill>
              <a:srgbClr val="53A3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818120" y="3255264"/>
            <a:ext cx="822960" cy="77724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🔎 Size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comparison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8942832" y="3136392"/>
            <a:ext cx="941832" cy="1078992"/>
          </a:xfrm>
          <a:prstGeom prst="roundRect">
            <a:avLst>
              <a:gd name="adj" fmla="val 17476"/>
            </a:avLst>
          </a:prstGeom>
          <a:solidFill>
            <a:srgbClr val="FFE5E2"/>
          </a:solidFill>
          <a:ln w="13970">
            <a:solidFill>
              <a:srgbClr val="B691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006840" y="3255264"/>
            <a:ext cx="822960" cy="77724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🎵 Music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matching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10131552" y="3136392"/>
            <a:ext cx="941832" cy="1078992"/>
          </a:xfrm>
          <a:prstGeom prst="roundRect">
            <a:avLst>
              <a:gd name="adj" fmla="val 17476"/>
            </a:avLst>
          </a:prstGeom>
          <a:solidFill>
            <a:srgbClr val="E6F6DF"/>
          </a:solidFill>
          <a:ln w="13970">
            <a:solidFill>
              <a:srgbClr val="5FB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0195560" y="3255264"/>
            <a:ext cx="822960" cy="77724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🎨 Colour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sorting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56832" y="4526280"/>
            <a:ext cx="4315968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1" descr="/mnt/data/docx_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239" y="4572000"/>
            <a:ext cx="1579154" cy="7772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656832" y="5477256"/>
            <a:ext cx="4315968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Figma / FigJam workspace evidence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Rationale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needs, constraints, decisions and trade-offs behind the final designs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676656" y="1207008"/>
            <a:ext cx="5074920" cy="4535424"/>
          </a:xfrm>
          <a:prstGeom prst="roundRect">
            <a:avLst>
              <a:gd name="adj" fmla="val 362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50976" y="1508760"/>
            <a:ext cx="4480560" cy="292608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needs &amp; constraints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0976" y="1801368"/>
            <a:ext cx="4434840" cy="17465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fontScale="9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</a:t>
            </a:r>
            <a:r>
              <a:rPr lang="en-US" sz="15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Young learners need clear wording, large images, and simple interaction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•  KOPO limits pushed us to avoid complicated game mechanics
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Short sprint time required reusable layouts and fast revision cycles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976" y="3547872"/>
            <a:ext cx="4480560" cy="292608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decisions &amp; trade-offs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976" y="3968496"/>
            <a:ext cx="4389120" cy="1143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Prioritised clarity over visual complexity
</a:t>
            </a:r>
          </a:p>
          <a:p>
            <a:pPr marL="0" indent="0">
              <a:buNone/>
            </a:pPr>
            <a:r>
              <a:rPr lang="en-US" sz="143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Used familiar objects to reduce cognitive load
</a:t>
            </a:r>
          </a:p>
          <a:p>
            <a:pPr marL="0" indent="0">
              <a:buNone/>
            </a:pPr>
            <a:r>
              <a:rPr lang="en-US" sz="143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Balanced fun, feedback, difficulty and feasibility</a:t>
            </a:r>
            <a:endParaRPr lang="en-US" sz="1430" dirty="0"/>
          </a:p>
        </p:txBody>
      </p:sp>
      <p:sp>
        <p:nvSpPr>
          <p:cNvPr id="10" name="Shape 7"/>
          <p:cNvSpPr/>
          <p:nvPr/>
        </p:nvSpPr>
        <p:spPr>
          <a:xfrm>
            <a:off x="6199632" y="1234440"/>
            <a:ext cx="2377440" cy="3429000"/>
          </a:xfrm>
          <a:prstGeom prst="roundRect">
            <a:avLst>
              <a:gd name="adj" fmla="val 6923"/>
            </a:avLst>
          </a:prstGeom>
          <a:solidFill>
            <a:srgbClr val="E6F6DF"/>
          </a:solidFill>
          <a:ln w="12700">
            <a:solidFill>
              <a:srgbClr val="5FB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37376" y="1508760"/>
            <a:ext cx="1901952" cy="22860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6A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Need-driven design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37960" y="1965960"/>
            <a:ext cx="1691640" cy="12344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instructions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 examples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 feedback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Large touch areas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19088" y="3611880"/>
            <a:ext cx="1920240" cy="384048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helps children understand quickly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851392" y="1234440"/>
            <a:ext cx="2468880" cy="3429000"/>
          </a:xfrm>
          <a:prstGeom prst="roundRect">
            <a:avLst>
              <a:gd name="adj" fmla="val 6667"/>
            </a:avLst>
          </a:prstGeom>
          <a:solidFill>
            <a:srgbClr val="DDF2FF"/>
          </a:solidFill>
          <a:ln w="12700">
            <a:solidFill>
              <a:srgbClr val="53A3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9125712" y="1508760"/>
            <a:ext cx="1920240" cy="22860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4D7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trade-off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281160" y="1947672"/>
            <a:ext cx="1600200" cy="9601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More features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clearer learning flow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07424" y="3328416"/>
            <a:ext cx="1938528" cy="566928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Decision: keep mechanics simple and improve engagement through themes.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309360" y="4965192"/>
            <a:ext cx="48006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 descr="/mnt/data/docx_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685" y="5010912"/>
            <a:ext cx="1411950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309360" y="5806440"/>
            <a:ext cx="480060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F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stories and review notes shaped design decisions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Evolution through Iterations: Sprint Pilot 1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Discovery, first ideas, and user-story-based design scope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658368" y="1170432"/>
            <a:ext cx="3886200" cy="4434840"/>
          </a:xfrm>
          <a:prstGeom prst="roundRect">
            <a:avLst>
              <a:gd name="adj" fmla="val 423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Picture 19" descr="939dc87e-0b53-5694-aedc-a5c90a397e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302" y="1307592"/>
            <a:ext cx="2638117" cy="1298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265954"/>
            <a:ext cx="3246120" cy="237919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  <a:defRPr sz="1260">
                <a:solidFill>
                  <a:srgbClr val="14281E"/>
                </a:solidFill>
              </a:defRPr>
            </a:pPr>
            <a:r>
              <a:rPr lang="en-US" sz="126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Collected user stories and assumptions for kindergarten learners
</a:t>
            </a:r>
          </a:p>
          <a:p>
            <a:pPr marL="0" indent="0">
              <a:buNone/>
              <a:defRPr sz="1260">
                <a:solidFill>
                  <a:srgbClr val="14281E"/>
                </a:solidFill>
              </a:defRPr>
            </a:pPr>
            <a:r>
              <a:rPr lang="en-US" sz="126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Explored multiple game types: ordering, comparison, matching and sorting
</a:t>
            </a:r>
          </a:p>
          <a:p>
            <a:pPr marL="0" indent="0">
              <a:buNone/>
              <a:defRPr sz="1260">
                <a:solidFill>
                  <a:srgbClr val="14281E"/>
                </a:solidFill>
              </a:defRPr>
            </a:pPr>
            <a:r>
              <a:rPr lang="en-US" sz="126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Defined scope around clear, feasible KOPO interactions
</a:t>
            </a:r>
          </a:p>
          <a:p>
            <a:pPr marL="0" indent="0">
              <a:buNone/>
              <a:defRPr sz="1260">
                <a:solidFill>
                  <a:srgbClr val="14281E"/>
                </a:solidFill>
              </a:defRPr>
            </a:pPr>
            <a:r>
              <a:rPr lang="en-US" sz="126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Trade-off: many ideas vs focused learning outcomes</a:t>
            </a:r>
            <a:endParaRPr lang="en-US" sz="1470" dirty="0"/>
          </a:p>
        </p:txBody>
      </p:sp>
      <p:sp>
        <p:nvSpPr>
          <p:cNvPr id="7" name="Shape 4"/>
          <p:cNvSpPr/>
          <p:nvPr/>
        </p:nvSpPr>
        <p:spPr>
          <a:xfrm>
            <a:off x="4892040" y="1261872"/>
            <a:ext cx="28346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4892040" y="2724912"/>
            <a:ext cx="283464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sz="850" b="1">
                <a:solidFill>
                  <a:srgbClr val="1E3223"/>
                </a:solidFill>
              </a:rPr>
              <a:t>Team discussion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028432" y="1261872"/>
            <a:ext cx="28346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/mnt/data/docx_media/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694" y="1307592"/>
            <a:ext cx="2638117" cy="1298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28432" y="2724912"/>
            <a:ext cx="283464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story cards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892040" y="3255264"/>
            <a:ext cx="28346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F39B2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3" descr="/mnt/data/docx_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302" y="3300984"/>
            <a:ext cx="2638117" cy="1298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92040" y="4718304"/>
            <a:ext cx="283464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fruit ordering / counting prototype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8028432" y="3255264"/>
            <a:ext cx="28346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5FB66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/mnt/data/docx_media/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694" y="3300984"/>
            <a:ext cx="2638117" cy="12984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28432" y="4718304"/>
            <a:ext cx="283464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animal ordering prototype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4892040" y="5321808"/>
            <a:ext cx="5961888" cy="23774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  <a:defRPr sz="920" b="0">
                <a:solidFill>
                  <a:srgbClr val="1E3223"/>
                </a:solidFill>
              </a:defRPr>
            </a:pPr>
            <a:r>
              <a:rPr lang="en-US" sz="920" b="0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 used: user stories, prototype screenshots, review notes and FigJam records.</a:t>
            </a:r>
            <a:endParaRPr lang="en-US" sz="1050" dirty="0"/>
          </a:p>
        </p:txBody>
      </p:sp>
      <p:pic>
        <p:nvPicPr>
          <p:cNvPr id="21" name="Picture 20" descr="tmp_ffb3b9c7fec5f98fd0eba56fcd172d0b_2834640_138988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261872"/>
            <a:ext cx="2834640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Evolution through Iterations: Sprint Pilot 2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Backlog organisation, sprint planning, and early prototype refinement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658368" y="1170432"/>
            <a:ext cx="3977640" cy="4498848"/>
          </a:xfrm>
          <a:prstGeom prst="roundRect">
            <a:avLst>
              <a:gd name="adj" fmla="val 413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992124" y="2301982"/>
            <a:ext cx="3310128" cy="264040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9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Organised work with product backlog and Kanban board
</a:t>
            </a:r>
          </a:p>
          <a:p>
            <a:pPr marL="0" indent="0">
              <a:buNone/>
            </a:pPr>
            <a:r>
              <a:rPr lang="en-US" sz="149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Assigned prototype tasks across four learning themes
</a:t>
            </a:r>
          </a:p>
          <a:p>
            <a:pPr marL="0" indent="0">
              <a:buNone/>
            </a:pPr>
            <a:r>
              <a:rPr lang="en-US" sz="149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Compared screenshots to find layout and clarity issues
</a:t>
            </a:r>
          </a:p>
          <a:p>
            <a:pPr marL="0" indent="0">
              <a:buNone/>
            </a:pPr>
            <a:r>
              <a:rPr lang="en-US" sz="1490" dirty="0">
                <a:solidFill>
                  <a:srgbClr val="2334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Trade-off: planning detail vs implementation speed</a:t>
            </a:r>
          </a:p>
        </p:txBody>
      </p:sp>
      <p:sp>
        <p:nvSpPr>
          <p:cNvPr id="7" name="Shape 4"/>
          <p:cNvSpPr/>
          <p:nvPr/>
        </p:nvSpPr>
        <p:spPr>
          <a:xfrm>
            <a:off x="4956048" y="12344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/mnt/data/docx_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748" y="1280160"/>
            <a:ext cx="2600960" cy="1280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56048" y="2679192"/>
            <a:ext cx="288036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backlog / task list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092440" y="12344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B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/mnt/data/docx_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140" y="1280160"/>
            <a:ext cx="2600960" cy="1280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679192"/>
            <a:ext cx="288036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Kanban board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56048" y="3182112"/>
            <a:ext cx="1828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53A3D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3" descr="/mnt/data/docx_media/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58063"/>
            <a:ext cx="1737360" cy="8551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22592" y="3182112"/>
            <a:ext cx="1828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53A3D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4" descr="/mnt/data/docx_media/imag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3327947"/>
            <a:ext cx="1737360" cy="91533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089136" y="3182112"/>
            <a:ext cx="1828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691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5" descr="/mnt/data/docx_media/image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4856" y="3320463"/>
            <a:ext cx="1737360" cy="9303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56048" y="4507992"/>
            <a:ext cx="5943600" cy="182880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850" b="1">
                <a:solidFill>
                  <a:srgbClr val="1E3223"/>
                </a:solidFill>
              </a:defRPr>
            </a:pPr>
            <a:r>
              <a:rPr lang="en-US" sz="850" b="1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prototypes reviewed across levels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4956048" y="5120640"/>
            <a:ext cx="5943600" cy="3657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  <a:defRPr sz="1050" b="0">
                <a:solidFill>
                  <a:srgbClr val="1E3223"/>
                </a:solidFill>
              </a:defRPr>
            </a:pPr>
            <a:r>
              <a:rPr lang="en-US" sz="1050" b="0" dirty="0">
                <a:solidFill>
                  <a:srgbClr val="1E32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improvement direction: clearer instructions, consistent layout, larger images, and more obvious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sz="2400" b="1">
                <a:solidFill>
                  <a:srgbClr val="14222D"/>
                </a:solidFill>
              </a:rPr>
              <a:t>Design Evolution through Iterations: Sprint Pilot 3</a:t>
            </a:r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sz="1300">
                <a:solidFill>
                  <a:srgbClr val="14222D"/>
                </a:solidFill>
              </a:rPr>
              <a:t>Group prototype evidence and sprint retrospective notes after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395" y="1179830"/>
            <a:ext cx="3246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C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5A36"/>
                </a:solidFill>
              </a:rPr>
              <a:t>Sprint Pilot 3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39443"/>
            <a:ext cx="27432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4222D"/>
                </a:solidFill>
              </a:rPr>
              <a:t>•  Used review feedback to improve instructions and layouts</a:t>
            </a:r>
          </a:p>
          <a:p>
            <a:br>
              <a:rPr sz="1200" b="0" dirty="0">
                <a:solidFill>
                  <a:srgbClr val="14222D"/>
                </a:solidFill>
              </a:rPr>
            </a:br>
            <a:r>
              <a:rPr sz="1200" b="0" dirty="0">
                <a:solidFill>
                  <a:srgbClr val="14222D"/>
                </a:solidFill>
              </a:rPr>
              <a:t>•  Checked prototype evidence from all members</a:t>
            </a:r>
            <a:br>
              <a:rPr sz="1200" b="0" dirty="0">
                <a:solidFill>
                  <a:srgbClr val="14222D"/>
                </a:solidFill>
              </a:rPr>
            </a:br>
            <a:endParaRPr sz="1200" b="0" dirty="0">
              <a:solidFill>
                <a:srgbClr val="14222D"/>
              </a:solidFill>
            </a:endParaRPr>
          </a:p>
          <a:p>
            <a:r>
              <a:rPr sz="1200" b="0" dirty="0">
                <a:solidFill>
                  <a:srgbClr val="14222D"/>
                </a:solidFill>
              </a:rPr>
              <a:t>•  Compared image clarity, touch areas and feedback</a:t>
            </a:r>
            <a:br>
              <a:rPr sz="1200" b="0" dirty="0">
                <a:solidFill>
                  <a:srgbClr val="14222D"/>
                </a:solidFill>
              </a:rPr>
            </a:br>
            <a:endParaRPr sz="1200" b="0" dirty="0">
              <a:solidFill>
                <a:srgbClr val="14222D"/>
              </a:solidFill>
            </a:endParaRPr>
          </a:p>
          <a:p>
            <a:r>
              <a:rPr sz="1200" b="0" dirty="0">
                <a:solidFill>
                  <a:srgbClr val="14222D"/>
                </a:solidFill>
              </a:rPr>
              <a:t>•  Recorded retrospective issues for the next iteration</a:t>
            </a:r>
            <a:br>
              <a:rPr sz="1200" b="0" dirty="0">
                <a:solidFill>
                  <a:srgbClr val="14222D"/>
                </a:solidFill>
              </a:rPr>
            </a:br>
            <a:endParaRPr sz="1200" b="0" dirty="0">
              <a:solidFill>
                <a:srgbClr val="14222D"/>
              </a:solidFill>
            </a:endParaRPr>
          </a:p>
          <a:p>
            <a:r>
              <a:rPr sz="1200" b="0" dirty="0">
                <a:solidFill>
                  <a:srgbClr val="14222D"/>
                </a:solidFill>
              </a:rPr>
              <a:t>•  Trade-off: final quality vs limited sprint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15967"/>
            <a:ext cx="2606040" cy="902589"/>
          </a:xfrm>
          <a:prstGeom prst="roundRect">
            <a:avLst/>
          </a:prstGeom>
          <a:solidFill>
            <a:srgbClr val="DFF5DE"/>
          </a:solidFill>
          <a:ln w="12700">
            <a:solidFill>
              <a:srgbClr val="D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40873"/>
            <a:ext cx="2423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Group prototype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23444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889" y="1325880"/>
            <a:ext cx="1486262" cy="731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0" y="123444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308" y="1325880"/>
            <a:ext cx="1388464" cy="7315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635240" y="123444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46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2626" y="1325880"/>
            <a:ext cx="1376868" cy="7315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509760" y="123444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A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3273" y="1325880"/>
            <a:ext cx="1384614" cy="7315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86200" y="3035808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22D"/>
                </a:solidFill>
              </a:rPr>
              <a:t>Sprint retrospective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364992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4955" y="3438144"/>
            <a:ext cx="925649" cy="1234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86200" y="481888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4222D"/>
                </a:solidFill>
              </a:rPr>
              <a:t>Retrospective 1: communication, layout, image suitability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364992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7884" y="3438144"/>
            <a:ext cx="926191" cy="12344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400" y="481888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4222D"/>
                </a:solidFill>
              </a:rPr>
              <a:t>Retrospective 2: backlog, Kanban, feedback follow-up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5413248"/>
            <a:ext cx="7269480" cy="566928"/>
          </a:xfrm>
          <a:prstGeom prst="roundRect">
            <a:avLst/>
          </a:prstGeom>
          <a:solidFill>
            <a:srgbClr val="FFFDE6"/>
          </a:solidFill>
          <a:ln w="12700">
            <a:solidFill>
              <a:srgbClr val="F4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072" y="550468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4222D"/>
                </a:solidFill>
              </a:rPr>
              <a:t>Review result: the sprint retrospective helped us identify communication gaps, backlog update issues, delayed feedback, layout problems, and image suitability improvements for the next iteration.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ckground 5046(1)(1)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400" b="1">
                <a:solidFill>
                  <a:srgbClr val="143224"/>
                </a:solidFill>
              </a:defRPr>
            </a:pPr>
            <a:r>
              <a:rPr lang="en-US" sz="2400" b="1" dirty="0">
                <a:solidFill>
                  <a:srgbClr val="1432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6656" y="74980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50" b="0">
                <a:solidFill>
                  <a:srgbClr val="14281E"/>
                </a:solidFill>
              </a:defRPr>
            </a:pPr>
            <a:r>
              <a:rPr lang="en-US" sz="115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outcomes, teamwork reflection, and future improvements</a:t>
            </a:r>
            <a:endParaRPr lang="en-US" sz="1120" dirty="0"/>
          </a:p>
        </p:txBody>
      </p:sp>
      <p:sp>
        <p:nvSpPr>
          <p:cNvPr id="5" name="Shape 2"/>
          <p:cNvSpPr/>
          <p:nvPr/>
        </p:nvSpPr>
        <p:spPr>
          <a:xfrm>
            <a:off x="932688" y="1234440"/>
            <a:ext cx="10149840" cy="4526280"/>
          </a:xfrm>
          <a:prstGeom prst="roundRect">
            <a:avLst>
              <a:gd name="adj" fmla="val 3636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F2C772"/>
            </a:solidFill>
            <a:prstDash val="solid"/>
          </a:ln>
          <a:effectLst>
            <a:outerShdw blurRad="25400" dist="15240" dir="2700000" algn="bl" rotWithShape="0">
              <a:srgbClr val="B8A98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325880" y="1700784"/>
            <a:ext cx="9235440" cy="35204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buNone/>
              <a:defRPr sz="1420" b="0">
                <a:solidFill>
                  <a:srgbClr val="14281E"/>
                </a:solidFill>
              </a:defRPr>
            </a:pPr>
            <a:r>
              <a:rPr lang="en-US" sz="142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Delivered a portfolio of 12 child-friendly KOPO learning game prototype levels
</a:t>
            </a:r>
          </a:p>
          <a:p>
            <a:pPr marL="0" indent="0" algn="just">
              <a:buNone/>
              <a:defRPr sz="1420" b="0">
                <a:solidFill>
                  <a:srgbClr val="14281E"/>
                </a:solidFill>
              </a:defRPr>
            </a:pPr>
            <a:r>
              <a:rPr lang="en-US" sz="142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Used sprint pilots to check designs against user stories, feedback and acceptance criteria
</a:t>
            </a:r>
          </a:p>
          <a:p>
            <a:pPr marL="0" indent="0" algn="just">
              <a:buNone/>
              <a:defRPr sz="1420" b="0">
                <a:solidFill>
                  <a:srgbClr val="14281E"/>
                </a:solidFill>
              </a:defRPr>
            </a:pPr>
            <a:r>
              <a:rPr lang="en-US" sz="142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Improved question clarity, image visibility, touch areas, feedback and layout consistency
</a:t>
            </a:r>
          </a:p>
          <a:p>
            <a:pPr marL="0" indent="0" algn="just">
              <a:buNone/>
              <a:defRPr sz="1420" b="0">
                <a:solidFill>
                  <a:srgbClr val="14281E"/>
                </a:solidFill>
              </a:defRPr>
            </a:pPr>
            <a:r>
              <a:rPr lang="en-US" sz="142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Teamwork was collaborative; roles, FigJam, Kanban and reviews supported coordination
</a:t>
            </a:r>
          </a:p>
          <a:p>
            <a:pPr marL="0" indent="0" algn="just">
              <a:buNone/>
              <a:defRPr sz="1420" b="0">
                <a:solidFill>
                  <a:srgbClr val="14281E"/>
                </a:solidFill>
              </a:defRPr>
            </a:pPr>
            <a:r>
              <a:rPr lang="en-US" sz="1420" b="0" dirty="0">
                <a:solidFill>
                  <a:srgbClr val="1428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Possible improvements:
   -  Clarify task ownership earlier in sprint planning
   -  Hold stronger retrospectives and more frequent check-ins to identify blockers earlier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5257800"/>
            <a:ext cx="8366760" cy="384048"/>
          </a:xfrm>
          <a:prstGeom prst="roundRect">
            <a:avLst>
              <a:gd name="adj" fmla="val 38095"/>
            </a:avLst>
          </a:prstGeom>
          <a:solidFill>
            <a:srgbClr val="FFE7C5"/>
          </a:solidFill>
          <a:ln w="10160">
            <a:solidFill>
              <a:srgbClr val="F39B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865376" y="5294376"/>
            <a:ext cx="8293608" cy="310896"/>
          </a:xfrm>
          <a:prstGeom prst="rect">
            <a:avLst/>
          </a:prstGeom>
          <a:noFill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050" b="1">
                <a:solidFill>
                  <a:srgbClr val="186937"/>
                </a:solidFill>
              </a:defRPr>
            </a:pPr>
            <a:r>
              <a:rPr lang="en-US" sz="1050" b="1" dirty="0">
                <a:solidFill>
                  <a:srgbClr val="186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message: simple, familiar and consistent design is the strongest approach for young learners.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831</Words>
  <Application>Microsoft Office PowerPoint</Application>
  <PresentationFormat>宽屏</PresentationFormat>
  <Paragraphs>121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CP5046 Kindergarten Learning Game Design</dc:title>
  <dc:subject>CP5046 Assessment 3 Group Presentation</dc:subject>
  <dc:creator>OpenAI</dc:creator>
  <cp:lastModifiedBy>Xianzhe Chen</cp:lastModifiedBy>
  <cp:revision>12</cp:revision>
  <dcterms:created xsi:type="dcterms:W3CDTF">2026-08-02T15:11:00Z</dcterms:created>
  <dcterms:modified xsi:type="dcterms:W3CDTF">2026-08-02T16:06:13Z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2B7EFD69FE9F4837A151A678A4560E62_13</vt:lpwstr>
  </property>
</Properties>
</file>